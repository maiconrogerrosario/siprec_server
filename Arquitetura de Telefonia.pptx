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0"/>
  </p:notesMasterIdLst>
  <p:sldIdLst>
    <p:sldId id="397" r:id="rId3"/>
    <p:sldId id="399" r:id="rId4"/>
    <p:sldId id="403" r:id="rId5"/>
    <p:sldId id="400" r:id="rId6"/>
    <p:sldId id="406" r:id="rId7"/>
    <p:sldId id="412" r:id="rId8"/>
    <p:sldId id="393" r:id="rId9"/>
    <p:sldId id="391" r:id="rId10"/>
    <p:sldId id="402" r:id="rId11"/>
    <p:sldId id="404" r:id="rId12"/>
    <p:sldId id="407" r:id="rId13"/>
    <p:sldId id="409" r:id="rId14"/>
    <p:sldId id="405" r:id="rId15"/>
    <p:sldId id="410" r:id="rId16"/>
    <p:sldId id="414" r:id="rId17"/>
    <p:sldId id="408" r:id="rId18"/>
    <p:sldId id="411" r:id="rId19"/>
  </p:sldIdLst>
  <p:sldSz cx="12192000" cy="6858000"/>
  <p:notesSz cx="6858000" cy="9144000"/>
  <p:defaultTextStyle>
    <a:defPPr>
      <a:defRPr lang="en-US"/>
    </a:defPPr>
    <a:lvl1pPr marL="0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4571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DE0B6C3-3FAD-4E29-992A-319D807E1C01}">
          <p14:sldIdLst>
            <p14:sldId id="397"/>
            <p14:sldId id="399"/>
            <p14:sldId id="403"/>
            <p14:sldId id="400"/>
            <p14:sldId id="406"/>
            <p14:sldId id="412"/>
            <p14:sldId id="393"/>
            <p14:sldId id="391"/>
            <p14:sldId id="402"/>
            <p14:sldId id="404"/>
            <p14:sldId id="407"/>
            <p14:sldId id="409"/>
            <p14:sldId id="405"/>
            <p14:sldId id="410"/>
            <p14:sldId id="414"/>
            <p14:sldId id="408"/>
            <p14:sldId id="4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77C7"/>
    <a:srgbClr val="1273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0078" autoAdjust="0"/>
  </p:normalViewPr>
  <p:slideViewPr>
    <p:cSldViewPr snapToObjects="1">
      <p:cViewPr>
        <p:scale>
          <a:sx n="55" d="100"/>
          <a:sy n="55" d="100"/>
        </p:scale>
        <p:origin x="1260" y="294"/>
      </p:cViewPr>
      <p:guideLst>
        <p:guide orient="horz" pos="336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76266-CF61-4D56-8C0C-1A96DD1B9759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AC434-2CF8-4225-93CA-27281B919A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07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DC93F-59A3-E3E9-E7F4-BAC155287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9CA9B1-B0B6-F7BC-87E0-9730FBF26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29E1A3-F2D2-BA34-F307-4ECE7362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246FD8-0DB8-555A-5725-FF12F798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61B39E-B89F-BB61-7A3B-B0D0BA76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9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01F10-8E17-4D8F-8999-93CB67E6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40C7AD-4BE1-29D9-61F6-8368B1ABD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0DB051-3BCB-8F9A-3146-A426CBEB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86A240-6078-D5FB-2F3C-8528FA9E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A5D469-A0C7-D5A6-F279-F6CE0C23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67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2953D-75FC-0996-8728-38D57FC3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11404E-CB42-5BA4-15B1-AE242FF5F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95C476-EA2A-E7AD-1983-A2FF2F72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2BE515-A7DD-8F37-8CC8-FD063C9C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7E9E0A-CE1D-FF8F-9BEB-03EEB213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36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C2350-2FEC-66FA-A9B5-7ABC1B1E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384C2-F746-2CE1-F57D-8E121FF8A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A05EFE-7E27-75F8-4B6B-B006A7021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136627-9705-E686-0754-0503B75B3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BB1BFF-5912-0F1D-F193-9A3B1E8D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339BFE-0BB8-5699-70A1-47C49FA9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00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8B929-9E07-55AC-CB4C-F63254B0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29B06A-125A-234D-A257-9A578B4E0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DEC424-8A75-D64C-EE11-F6D3133DA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9" y="2505076"/>
            <a:ext cx="515831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97F76F-68CA-8B81-64A3-88C3FB4D5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632B0B-2461-5B6E-DB68-28776E3D4C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71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195339-C6FE-4ED0-FD96-FFA8491C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AFEE42-4496-6241-296E-16B42B0B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A4D6F7-C5A4-8D1C-5086-E7FF50BF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33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4A99F-25C3-B8E4-ABCF-ACFAF303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AA04F6-488D-93ED-0CEC-41BD32B9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4A78EC-DCE7-7D11-61F0-C4D5A10E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8A50E2-E33A-408C-D2AE-E6BD011E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16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D11E3B-9D51-22BC-EFAE-52A9077A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751120-028E-07A1-DB0B-182600D2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D4739F-28AF-D652-59A6-09C0D913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74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B9B3F-518E-4B88-3DA2-5DA5FF4A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2F9362-7547-A076-F571-0FEB0F808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013536-CAFE-23F4-303E-AED1FC0F9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439266-A7CB-4283-C14E-F0B652B4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873856-4E70-2A89-8349-F3C615E07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AF44AC-1B85-0105-F654-B155F8C5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77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CF9F8-A807-FB25-9F3A-4DB1EC57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B6CA7E4-7FA5-A14B-85C8-1C79A0DCA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9796EB-8776-600C-5ACD-EA56F986F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B8F58C-B3F4-3C93-20FB-5E302134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3179AF-2C09-3E85-D4D1-95474C425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4EBE50-5F99-AB0A-92AC-29D42361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3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6C265-0A0E-DB39-6ECB-681381E8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FAADC8-115E-2AEC-B5DA-3FAC17618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9B075B-67A1-BD30-0ED0-E03429BAA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39AB54-E874-31F0-4093-4578AE97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215353-60B7-949C-E307-BEBF6C04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91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74A474-7BDA-FFAE-01E8-B8DF54B2C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0EA775-6F7A-77AC-A99E-733713269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6835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EC8857-EAEC-340F-86E7-AD9D0218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8F5B9B-4C2E-FAED-E26A-2CC102C4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27FBC-2A11-DCB7-6569-DD83761A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351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22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22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78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40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257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23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51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311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643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1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A10E61-6728-1A59-932C-7392A86D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8909A1-B3F7-588B-A52F-0A374A8A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E3BD03-0078-7DB6-FCAF-BAFCEBA70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8B7AB-F4C2-4B0E-B8DA-F2BDFD5944C3}" type="datetimeFigureOut">
              <a:rPr lang="pt-BR" smtClean="0"/>
              <a:t>17/12/2025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7830AF-5E8D-DE56-B1DE-BEA4405EB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674008-1772-ABE2-887E-97A11670D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14ECB-F386-4517-A9FE-B45F5D9DAB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29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5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9DCFC-0A53-1D5A-ADD8-BFEACE0C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Internet, Rede Privada e Comunicação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2EDC7CE-E38B-0D15-5078-74B5B72B11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Comunicação ocorre sempre entre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 + Porta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redes locais são usados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IPs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privados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Pela Internet há uso de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IPs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privados e públicos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Telefonia IP usa a infraestrutura de redes de dados</a:t>
            </a:r>
          </a:p>
        </p:txBody>
      </p:sp>
    </p:spTree>
    <p:extLst>
      <p:ext uri="{BB962C8B-B14F-4D97-AF65-F5344CB8AC3E}">
        <p14:creationId xmlns:p14="http://schemas.microsoft.com/office/powerpoint/2010/main" val="3699317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5">
            <a:extLst>
              <a:ext uri="{FF2B5EF4-FFF2-40B4-BE49-F238E27FC236}">
                <a16:creationId xmlns:a16="http://schemas.microsoft.com/office/drawing/2014/main" id="{81DFDA10-915D-1210-7E5A-772EC9E4FDA4}"/>
              </a:ext>
            </a:extLst>
          </p:cNvPr>
          <p:cNvSpPr txBox="1">
            <a:spLocks/>
          </p:cNvSpPr>
          <p:nvPr/>
        </p:nvSpPr>
        <p:spPr>
          <a:xfrm>
            <a:off x="637542" y="1009988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>
                <a:solidFill>
                  <a:schemeClr val="accent6">
                    <a:lumMod val="75000"/>
                  </a:schemeClr>
                </a:solidFill>
              </a:rPr>
              <a:t>TCP </a:t>
            </a:r>
            <a:r>
              <a:rPr lang="pt-BR" sz="2500" dirty="0" err="1">
                <a:solidFill>
                  <a:schemeClr val="accent6">
                    <a:lumMod val="75000"/>
                  </a:schemeClr>
                </a:solidFill>
              </a:rPr>
              <a:t>vs</a:t>
            </a:r>
            <a:r>
              <a:rPr lang="pt-BR" sz="2500" dirty="0">
                <a:solidFill>
                  <a:schemeClr val="accent6">
                    <a:lumMod val="75000"/>
                  </a:schemeClr>
                </a:solidFill>
              </a:rPr>
              <a:t> UDP</a:t>
            </a:r>
            <a:endParaRPr lang="pt-BR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861C9B-2BBB-A51A-F005-EF13DB5EA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43" y="1638362"/>
            <a:ext cx="54584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confiável, orientado à conexão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rápido, sem garantia de entrega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Telefonia prioriza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baixa latência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Sinalização e mídia podem usar transportes diferentes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E60C3F-5A9A-903C-8AB4-A2AF61F22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609600"/>
            <a:ext cx="5915657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9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E3C8E7B3-010F-3ECC-2468-863579E7DD9D}"/>
              </a:ext>
            </a:extLst>
          </p:cNvPr>
          <p:cNvSpPr/>
          <p:nvPr/>
        </p:nvSpPr>
        <p:spPr>
          <a:xfrm>
            <a:off x="7010400" y="4800600"/>
            <a:ext cx="3581399" cy="1384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5">
            <a:extLst>
              <a:ext uri="{FF2B5EF4-FFF2-40B4-BE49-F238E27FC236}">
                <a16:creationId xmlns:a16="http://schemas.microsoft.com/office/drawing/2014/main" id="{81DFDA10-915D-1210-7E5A-772EC9E4FDA4}"/>
              </a:ext>
            </a:extLst>
          </p:cNvPr>
          <p:cNvSpPr txBox="1">
            <a:spLocks/>
          </p:cNvSpPr>
          <p:nvPr/>
        </p:nvSpPr>
        <p:spPr>
          <a:xfrm>
            <a:off x="637542" y="1009988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Áudio Digital</a:t>
            </a:r>
            <a:endParaRPr lang="pt-BR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45AF65-1760-EF56-A747-B1EA3D1D8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42" y="1651363"/>
            <a:ext cx="56388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Voz é um sinal analógico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Convertida para áudio digital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Representada por amostras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Preparada para transmissão em rede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Modulação PCM</a:t>
            </a:r>
          </a:p>
        </p:txBody>
      </p:sp>
      <p:pic>
        <p:nvPicPr>
          <p:cNvPr id="5" name="Gráfico 4" descr="Viva-voz com preenchimento sólido">
            <a:extLst>
              <a:ext uri="{FF2B5EF4-FFF2-40B4-BE49-F238E27FC236}">
                <a16:creationId xmlns:a16="http://schemas.microsoft.com/office/drawing/2014/main" id="{50D8B75B-703D-30F3-A3EA-A1CB0854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4970426"/>
            <a:ext cx="914400" cy="9144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8A57F64-9770-497F-D0D5-B5567A5FC4A9}"/>
              </a:ext>
            </a:extLst>
          </p:cNvPr>
          <p:cNvSpPr/>
          <p:nvPr/>
        </p:nvSpPr>
        <p:spPr>
          <a:xfrm>
            <a:off x="2895600" y="4800600"/>
            <a:ext cx="3200400" cy="1371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57457CE-FF49-3EB9-0014-0DAC44BD6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012" y="5077492"/>
            <a:ext cx="3063658" cy="85118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165B912-0FDF-12B5-E06E-ACB3F40C5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603" y="4996828"/>
            <a:ext cx="3197797" cy="1012513"/>
          </a:xfrm>
          <a:prstGeom prst="rect">
            <a:avLst/>
          </a:prstGeom>
        </p:spPr>
      </p:pic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487014A-3628-F68A-3266-5EE0BDB0278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295400" y="5486400"/>
            <a:ext cx="1600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93EC9C3-A38D-93D1-20AA-BE17E89B6AC4}"/>
              </a:ext>
            </a:extLst>
          </p:cNvPr>
          <p:cNvCxnSpPr>
            <a:cxnSpLocks/>
          </p:cNvCxnSpPr>
          <p:nvPr/>
        </p:nvCxnSpPr>
        <p:spPr>
          <a:xfrm>
            <a:off x="6096000" y="5499498"/>
            <a:ext cx="914400" cy="3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41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5">
            <a:extLst>
              <a:ext uri="{FF2B5EF4-FFF2-40B4-BE49-F238E27FC236}">
                <a16:creationId xmlns:a16="http://schemas.microsoft.com/office/drawing/2014/main" id="{81DFDA10-915D-1210-7E5A-772EC9E4FDA4}"/>
              </a:ext>
            </a:extLst>
          </p:cNvPr>
          <p:cNvSpPr txBox="1">
            <a:spLocks/>
          </p:cNvSpPr>
          <p:nvPr/>
        </p:nvSpPr>
        <p:spPr>
          <a:xfrm>
            <a:off x="637542" y="1009988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Codec de Áudio</a:t>
            </a:r>
            <a:endParaRPr lang="pt-BR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64E3A5-8F3D-07A9-4C59-7E88BB2C0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65" y="1676400"/>
            <a:ext cx="52197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o formato do áudio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 compressão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 codificação e decodificação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Atua de ponta a ponta na comunicação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071B419-C09F-A022-6939-DABE10332E65}"/>
              </a:ext>
            </a:extLst>
          </p:cNvPr>
          <p:cNvSpPr/>
          <p:nvPr/>
        </p:nvSpPr>
        <p:spPr>
          <a:xfrm>
            <a:off x="6019800" y="4805293"/>
            <a:ext cx="2149842" cy="1057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Gráfico 6" descr="Viva-voz com preenchimento sólido">
            <a:extLst>
              <a:ext uri="{FF2B5EF4-FFF2-40B4-BE49-F238E27FC236}">
                <a16:creationId xmlns:a16="http://schemas.microsoft.com/office/drawing/2014/main" id="{93BCAC82-5EB6-B918-88AD-2838AF596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1" y="4970426"/>
            <a:ext cx="652028" cy="6982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D2C30BBA-F059-236E-B340-931C4EDFE4B2}"/>
              </a:ext>
            </a:extLst>
          </p:cNvPr>
          <p:cNvSpPr/>
          <p:nvPr/>
        </p:nvSpPr>
        <p:spPr>
          <a:xfrm>
            <a:off x="2895600" y="4800600"/>
            <a:ext cx="1921136" cy="10474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FA2D9B1-5403-68BE-C655-6B9B5D964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527" y="5060315"/>
            <a:ext cx="1688132" cy="50228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2780212-E435-8B89-90E3-0E37BDADA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223" y="5038405"/>
            <a:ext cx="1812777" cy="671872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059D3910-28E6-3379-EBC5-2E96FCD0766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185429" y="5324306"/>
            <a:ext cx="17101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B0F93C9-EE65-CAA6-6493-4B84AB7C3CD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816736" y="5324306"/>
            <a:ext cx="1203064" cy="9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4FDD5BC6-D024-F50E-592A-0DA3A24047F5}"/>
              </a:ext>
            </a:extLst>
          </p:cNvPr>
          <p:cNvSpPr/>
          <p:nvPr/>
        </p:nvSpPr>
        <p:spPr>
          <a:xfrm>
            <a:off x="9372706" y="4805293"/>
            <a:ext cx="1523894" cy="1057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A6068895-C02B-0359-C06B-DF37BFDBA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255" y="5181929"/>
            <a:ext cx="1134883" cy="384823"/>
          </a:xfrm>
          <a:prstGeom prst="rect">
            <a:avLst/>
          </a:prstGeom>
        </p:spPr>
      </p:pic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7464B2C6-0678-D031-CB1A-030B7346540F}"/>
              </a:ext>
            </a:extLst>
          </p:cNvPr>
          <p:cNvCxnSpPr>
            <a:cxnSpLocks/>
          </p:cNvCxnSpPr>
          <p:nvPr/>
        </p:nvCxnSpPr>
        <p:spPr>
          <a:xfrm>
            <a:off x="8169423" y="5306610"/>
            <a:ext cx="1203064" cy="9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CFC116A-7E62-09FC-4A11-4BE7E8B42097}"/>
              </a:ext>
            </a:extLst>
          </p:cNvPr>
          <p:cNvSpPr txBox="1"/>
          <p:nvPr/>
        </p:nvSpPr>
        <p:spPr>
          <a:xfrm>
            <a:off x="8737973" y="4377273"/>
            <a:ext cx="316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Codec de Áudio (PCM → G.711)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344940C-5692-CF60-CF05-844B587191C8}"/>
              </a:ext>
            </a:extLst>
          </p:cNvPr>
          <p:cNvSpPr txBox="1"/>
          <p:nvPr/>
        </p:nvSpPr>
        <p:spPr>
          <a:xfrm>
            <a:off x="5816747" y="4418415"/>
            <a:ext cx="2555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Áudio Digital (PCM)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AAEC742-3B92-43F7-CC8D-8ECF0BBF47E9}"/>
              </a:ext>
            </a:extLst>
          </p:cNvPr>
          <p:cNvSpPr txBox="1"/>
          <p:nvPr/>
        </p:nvSpPr>
        <p:spPr>
          <a:xfrm>
            <a:off x="2898847" y="4426267"/>
            <a:ext cx="193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Áudio Analógico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9F671AC-F0BB-320F-8007-64A2046F52E0}"/>
              </a:ext>
            </a:extLst>
          </p:cNvPr>
          <p:cNvSpPr txBox="1"/>
          <p:nvPr/>
        </p:nvSpPr>
        <p:spPr>
          <a:xfrm>
            <a:off x="6128253" y="5911153"/>
            <a:ext cx="193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Tamanho original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D1F12C6-B647-7ECC-83CB-DE657C11564B}"/>
              </a:ext>
            </a:extLst>
          </p:cNvPr>
          <p:cNvSpPr txBox="1"/>
          <p:nvPr/>
        </p:nvSpPr>
        <p:spPr>
          <a:xfrm>
            <a:off x="9225338" y="5911153"/>
            <a:ext cx="1932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Tamanho Comprimido</a:t>
            </a:r>
          </a:p>
        </p:txBody>
      </p:sp>
    </p:spTree>
    <p:extLst>
      <p:ext uri="{BB962C8B-B14F-4D97-AF65-F5344CB8AC3E}">
        <p14:creationId xmlns:p14="http://schemas.microsoft.com/office/powerpoint/2010/main" val="207117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5">
            <a:extLst>
              <a:ext uri="{FF2B5EF4-FFF2-40B4-BE49-F238E27FC236}">
                <a16:creationId xmlns:a16="http://schemas.microsoft.com/office/drawing/2014/main" id="{81DFDA10-915D-1210-7E5A-772EC9E4FDA4}"/>
              </a:ext>
            </a:extLst>
          </p:cNvPr>
          <p:cNvSpPr txBox="1">
            <a:spLocks/>
          </p:cNvSpPr>
          <p:nvPr/>
        </p:nvSpPr>
        <p:spPr>
          <a:xfrm>
            <a:off x="637542" y="1009988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RTP</a:t>
            </a:r>
            <a:endParaRPr lang="pt-BR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784249-D490-3059-C48E-D449D181B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42" y="1899779"/>
            <a:ext cx="52197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Transporta áudio e vídeo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 sobre UDP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Envia pacotes sequenciais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 os terminais ou passa pelo PBX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4B6E6F2-7CF8-148B-4824-63DACEB52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877" y="1804527"/>
            <a:ext cx="5877745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1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D15226C-91C2-8008-96D8-12EAED99F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57200"/>
            <a:ext cx="6277904" cy="246279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EDD2E02-BD0C-FA1F-EA46-A7B1B0F26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429000"/>
            <a:ext cx="1209844" cy="150516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AD3AEDC-71BF-0597-C012-2C26E10F7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103" y="3429000"/>
            <a:ext cx="1209844" cy="1505160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419963A-534C-870C-2C2D-72BF0B7633D8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9948025" y="4934160"/>
            <a:ext cx="0" cy="726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C0402CED-FDEE-9E01-7ABB-76D38925C4CD}"/>
              </a:ext>
            </a:extLst>
          </p:cNvPr>
          <p:cNvSpPr/>
          <p:nvPr/>
        </p:nvSpPr>
        <p:spPr>
          <a:xfrm>
            <a:off x="4724401" y="5303427"/>
            <a:ext cx="3445931" cy="7191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56FA388E-318A-7A99-6C5C-AA8E3D756DDD}"/>
              </a:ext>
            </a:extLst>
          </p:cNvPr>
          <p:cNvCxnSpPr>
            <a:stCxn id="4" idx="2"/>
          </p:cNvCxnSpPr>
          <p:nvPr/>
        </p:nvCxnSpPr>
        <p:spPr>
          <a:xfrm>
            <a:off x="2586122" y="4934160"/>
            <a:ext cx="4678" cy="704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4BBA3910-6478-EB47-A002-FB79FA494BA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603054" y="5641564"/>
            <a:ext cx="2121347" cy="21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DEF73A6-8E1A-C999-16E0-BA0A58C24261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170332" y="5662996"/>
            <a:ext cx="1794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A839527-5551-6522-817A-22CFF11D087C}"/>
              </a:ext>
            </a:extLst>
          </p:cNvPr>
          <p:cNvCxnSpPr>
            <a:cxnSpLocks/>
          </p:cNvCxnSpPr>
          <p:nvPr/>
        </p:nvCxnSpPr>
        <p:spPr>
          <a:xfrm>
            <a:off x="5410200" y="5300663"/>
            <a:ext cx="0" cy="7191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D38D885-A082-D0A0-7D47-31733A514D79}"/>
              </a:ext>
            </a:extLst>
          </p:cNvPr>
          <p:cNvCxnSpPr/>
          <p:nvPr/>
        </p:nvCxnSpPr>
        <p:spPr>
          <a:xfrm>
            <a:off x="6096000" y="5300663"/>
            <a:ext cx="0" cy="7191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38571B3-E07D-F183-905B-63D20BC2421D}"/>
              </a:ext>
            </a:extLst>
          </p:cNvPr>
          <p:cNvCxnSpPr/>
          <p:nvPr/>
        </p:nvCxnSpPr>
        <p:spPr>
          <a:xfrm>
            <a:off x="6781800" y="5300663"/>
            <a:ext cx="0" cy="7191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543CC321-D899-1A33-1328-D805EE356517}"/>
              </a:ext>
            </a:extLst>
          </p:cNvPr>
          <p:cNvCxnSpPr/>
          <p:nvPr/>
        </p:nvCxnSpPr>
        <p:spPr>
          <a:xfrm>
            <a:off x="7467600" y="5300663"/>
            <a:ext cx="0" cy="7191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F06B95C-56D4-009A-4779-F3CD0D9B82AE}"/>
              </a:ext>
            </a:extLst>
          </p:cNvPr>
          <p:cNvSpPr txBox="1"/>
          <p:nvPr/>
        </p:nvSpPr>
        <p:spPr>
          <a:xfrm>
            <a:off x="4822723" y="5537121"/>
            <a:ext cx="515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Chunk</a:t>
            </a:r>
            <a:endParaRPr lang="pt-BR" sz="1000" b="1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EB95BD6-649C-5813-2C40-1463EC6EDF7A}"/>
              </a:ext>
            </a:extLst>
          </p:cNvPr>
          <p:cNvSpPr txBox="1"/>
          <p:nvPr/>
        </p:nvSpPr>
        <p:spPr>
          <a:xfrm>
            <a:off x="5499165" y="5539885"/>
            <a:ext cx="515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Chunk</a:t>
            </a:r>
            <a:endParaRPr lang="pt-BR" sz="1000" b="1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D5CA548-9D4A-0369-82AC-F61DB3EF9EAD}"/>
              </a:ext>
            </a:extLst>
          </p:cNvPr>
          <p:cNvSpPr txBox="1"/>
          <p:nvPr/>
        </p:nvSpPr>
        <p:spPr>
          <a:xfrm>
            <a:off x="6176879" y="5541930"/>
            <a:ext cx="515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Chunk</a:t>
            </a:r>
            <a:endParaRPr lang="pt-BR" sz="1000" b="1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C4CBAB5-8638-539E-D4A9-EB4FC3E7CAF9}"/>
              </a:ext>
            </a:extLst>
          </p:cNvPr>
          <p:cNvSpPr txBox="1"/>
          <p:nvPr/>
        </p:nvSpPr>
        <p:spPr>
          <a:xfrm>
            <a:off x="6858274" y="5541930"/>
            <a:ext cx="515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Chunk</a:t>
            </a:r>
            <a:endParaRPr lang="pt-BR" sz="1000" b="1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2B383A-9FC0-40CE-1B4D-226611BA9285}"/>
              </a:ext>
            </a:extLst>
          </p:cNvPr>
          <p:cNvSpPr txBox="1"/>
          <p:nvPr/>
        </p:nvSpPr>
        <p:spPr>
          <a:xfrm>
            <a:off x="7522310" y="5541930"/>
            <a:ext cx="515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Chunk</a:t>
            </a:r>
            <a:endParaRPr lang="pt-BR" sz="1000" b="1" dirty="0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AED5AC6-1855-3889-32F8-2C70B1FDC28C}"/>
              </a:ext>
            </a:extLst>
          </p:cNvPr>
          <p:cNvSpPr txBox="1"/>
          <p:nvPr/>
        </p:nvSpPr>
        <p:spPr>
          <a:xfrm>
            <a:off x="4893733" y="4998774"/>
            <a:ext cx="32719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/>
              <a:t>Rede de Dados(Internet ou Lan)</a:t>
            </a:r>
          </a:p>
        </p:txBody>
      </p:sp>
    </p:spTree>
    <p:extLst>
      <p:ext uri="{BB962C8B-B14F-4D97-AF65-F5344CB8AC3E}">
        <p14:creationId xmlns:p14="http://schemas.microsoft.com/office/powerpoint/2010/main" val="113752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D7DEE18-1516-7785-54AC-B409C455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1821883"/>
            <a:ext cx="2524477" cy="790685"/>
          </a:xfrm>
          <a:prstGeom prst="rect">
            <a:avLst/>
          </a:prstGeom>
        </p:spPr>
      </p:pic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b="1" dirty="0"/>
              <a:t>SDP (</a:t>
            </a:r>
            <a:r>
              <a:rPr lang="pt-BR" sz="2500" b="1" dirty="0" err="1"/>
              <a:t>Session</a:t>
            </a:r>
            <a:r>
              <a:rPr lang="pt-BR" sz="2500" b="1" dirty="0"/>
              <a:t> </a:t>
            </a:r>
            <a:r>
              <a:rPr lang="pt-BR" sz="2500" b="1" dirty="0" err="1"/>
              <a:t>Description</a:t>
            </a:r>
            <a:r>
              <a:rPr lang="pt-BR" sz="2500" b="1" dirty="0"/>
              <a:t> </a:t>
            </a:r>
            <a:r>
              <a:rPr lang="pt-BR" sz="2500" b="1" dirty="0" err="1"/>
              <a:t>Protocol</a:t>
            </a:r>
            <a:r>
              <a:rPr lang="pt-BR" sz="2500" b="1" dirty="0"/>
              <a:t>)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14D58AA-2836-579A-E6E3-8DDB0AAE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68" y="1255325"/>
            <a:ext cx="692518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descrição da sessão de mídia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 em: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SIP (INVITE / 200 OK)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 e porta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 de mídia (áudio/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Codec e parâmetros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Campos principais: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conexão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mídia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a=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atributos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7629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rgbClr val="1377C7"/>
                </a:solidFill>
              </a:rPr>
              <a:t>SIP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>
            <a:off x="457200" y="1413064"/>
            <a:ext cx="6096000" cy="24006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Função: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controle da chamada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Métodos: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INVITE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· 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ACK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· 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BYE</a:t>
            </a: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Portas: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5060 / 5061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Transporte: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UDP · TCP · TLS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WebRTC</a:t>
            </a:r>
            <a:r>
              <a:rPr kumimoji="0" lang="pt-BR" altLang="pt-BR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SIP over </a:t>
            </a:r>
            <a:r>
              <a:rPr kumimoji="0" lang="pt-BR" altLang="pt-B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ws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pt-BR" altLang="pt-B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wss</a:t>
            </a:r>
            <a:r>
              <a:rPr kumimoji="0" lang="pt-BR" altLang="pt-B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01C3B4-D313-6A27-6DCE-E176B8DE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643" y="1009988"/>
            <a:ext cx="4724400" cy="4095412"/>
          </a:xfrm>
          <a:prstGeom prst="rect">
            <a:avLst/>
          </a:prstGeom>
        </p:spPr>
      </p:pic>
      <p:sp>
        <p:nvSpPr>
          <p:cNvPr id="8" name="Chave Esquerda 7">
            <a:extLst>
              <a:ext uri="{FF2B5EF4-FFF2-40B4-BE49-F238E27FC236}">
                <a16:creationId xmlns:a16="http://schemas.microsoft.com/office/drawing/2014/main" id="{93B4293E-5E8E-7E51-8BAF-B4C91A1BC7F7}"/>
              </a:ext>
            </a:extLst>
          </p:cNvPr>
          <p:cNvSpPr/>
          <p:nvPr/>
        </p:nvSpPr>
        <p:spPr>
          <a:xfrm>
            <a:off x="6553200" y="764652"/>
            <a:ext cx="838800" cy="319774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B60A54BC-9184-D903-AFB6-310B3C25B166}"/>
              </a:ext>
            </a:extLst>
          </p:cNvPr>
          <p:cNvSpPr/>
          <p:nvPr/>
        </p:nvSpPr>
        <p:spPr>
          <a:xfrm>
            <a:off x="10696593" y="764652"/>
            <a:ext cx="838200" cy="319774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42A707EB-272F-3FC2-0976-133D15B295A9}"/>
              </a:ext>
            </a:extLst>
          </p:cNvPr>
          <p:cNvSpPr/>
          <p:nvPr/>
        </p:nvSpPr>
        <p:spPr>
          <a:xfrm>
            <a:off x="6682319" y="4081616"/>
            <a:ext cx="503761" cy="90456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12" name="Chave Esquerda 11">
            <a:extLst>
              <a:ext uri="{FF2B5EF4-FFF2-40B4-BE49-F238E27FC236}">
                <a16:creationId xmlns:a16="http://schemas.microsoft.com/office/drawing/2014/main" id="{B5220262-D2AF-60CC-E09F-FD6D3290DFFE}"/>
              </a:ext>
            </a:extLst>
          </p:cNvPr>
          <p:cNvSpPr/>
          <p:nvPr/>
        </p:nvSpPr>
        <p:spPr>
          <a:xfrm rot="10800000">
            <a:off x="9906000" y="4074242"/>
            <a:ext cx="503761" cy="90456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122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200" b="1" dirty="0"/>
              <a:t>Fluxo de uma Chamada</a:t>
            </a:r>
            <a:endParaRPr lang="pt-BR" sz="32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A89B64D-25CA-28DA-B42E-374ED37BB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76"/>
            <a:ext cx="5687219" cy="502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16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5">
            <a:extLst>
              <a:ext uri="{FF2B5EF4-FFF2-40B4-BE49-F238E27FC236}">
                <a16:creationId xmlns:a16="http://schemas.microsoft.com/office/drawing/2014/main" id="{81DFDA10-915D-1210-7E5A-772EC9E4FDA4}"/>
              </a:ext>
            </a:extLst>
          </p:cNvPr>
          <p:cNvSpPr txBox="1">
            <a:spLocks/>
          </p:cNvSpPr>
          <p:nvPr/>
        </p:nvSpPr>
        <p:spPr>
          <a:xfrm>
            <a:off x="637542" y="1009988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Terminais</a:t>
            </a:r>
            <a:endParaRPr lang="pt-BR" sz="25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BF6BB5-AA40-7674-7B6D-8D61166B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057400"/>
            <a:ext cx="1095375" cy="40290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A1760EA-8E72-9FC8-E7B8-C9AFA59D9C56}"/>
              </a:ext>
            </a:extLst>
          </p:cNvPr>
          <p:cNvSpPr txBox="1"/>
          <p:nvPr/>
        </p:nvSpPr>
        <p:spPr>
          <a:xfrm>
            <a:off x="2662557" y="2029599"/>
            <a:ext cx="7792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Dispositivo físico dedicado à telefonia.</a:t>
            </a:r>
            <a:br>
              <a:rPr lang="pt-BR"/>
            </a:br>
            <a:r>
              <a:rPr lang="pt-BR"/>
              <a:t>Implementa </a:t>
            </a:r>
            <a:r>
              <a:rPr lang="pt-BR" b="1"/>
              <a:t>SIP e RTP diretamente no hardware</a:t>
            </a:r>
            <a:r>
              <a:rPr lang="pt-BR"/>
              <a:t>, oferecendo maior estabilidade.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1DAD072-F2E3-A459-BC6E-A31304B944FA}"/>
              </a:ext>
            </a:extLst>
          </p:cNvPr>
          <p:cNvSpPr txBox="1"/>
          <p:nvPr/>
        </p:nvSpPr>
        <p:spPr>
          <a:xfrm>
            <a:off x="2668419" y="22419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6E1099-9171-D475-64D9-F672C2D87200}"/>
              </a:ext>
            </a:extLst>
          </p:cNvPr>
          <p:cNvSpPr txBox="1"/>
          <p:nvPr/>
        </p:nvSpPr>
        <p:spPr>
          <a:xfrm>
            <a:off x="2651468" y="3006969"/>
            <a:ext cx="7178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Aplicação de computador ou aplicativo </a:t>
            </a:r>
            <a:r>
              <a:rPr lang="pt-BR" dirty="0" err="1"/>
              <a:t>celuar</a:t>
            </a:r>
            <a:r>
              <a:rPr lang="pt-BR" dirty="0"/>
              <a:t> que funciona como telefone.</a:t>
            </a:r>
            <a:br>
              <a:rPr lang="pt-BR" dirty="0"/>
            </a:br>
            <a:r>
              <a:rPr lang="pt-BR" dirty="0"/>
              <a:t>Implementa </a:t>
            </a:r>
            <a:r>
              <a:rPr lang="pt-BR" b="1" dirty="0"/>
              <a:t>SIP e RTP em software</a:t>
            </a:r>
            <a:r>
              <a:rPr lang="pt-BR" dirty="0"/>
              <a:t>, utilizando recursos do sistema operacional.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D5DA72-601D-39E7-2EE5-76185D5BEED7}"/>
              </a:ext>
            </a:extLst>
          </p:cNvPr>
          <p:cNvSpPr txBox="1"/>
          <p:nvPr/>
        </p:nvSpPr>
        <p:spPr>
          <a:xfrm>
            <a:off x="2680776" y="4122061"/>
            <a:ext cx="6093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Telefone executado no navegador web.</a:t>
            </a:r>
            <a:br>
              <a:rPr lang="pt-BR" dirty="0"/>
            </a:br>
            <a:r>
              <a:rPr lang="pt-BR" dirty="0"/>
              <a:t>Utiliza </a:t>
            </a:r>
            <a:r>
              <a:rPr lang="pt-BR" b="1" dirty="0" err="1"/>
              <a:t>WebRTC</a:t>
            </a:r>
            <a:r>
              <a:rPr lang="pt-BR" dirty="0"/>
              <a:t> e precisa de </a:t>
            </a:r>
            <a:r>
              <a:rPr lang="pt-BR" b="1" dirty="0"/>
              <a:t>gateway</a:t>
            </a:r>
            <a:r>
              <a:rPr lang="pt-BR" dirty="0"/>
              <a:t> para se comunicar com sistemas SIP. Ou implementar SIP Over </a:t>
            </a:r>
            <a:r>
              <a:rPr lang="pt-BR" dirty="0" err="1"/>
              <a:t>WebSocket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A6A0938-4895-98E6-6ECA-7AE83822CD58}"/>
              </a:ext>
            </a:extLst>
          </p:cNvPr>
          <p:cNvSpPr txBox="1"/>
          <p:nvPr/>
        </p:nvSpPr>
        <p:spPr>
          <a:xfrm>
            <a:off x="2651468" y="5237153"/>
            <a:ext cx="6093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Aplicativo móvel para chamadas de voz.</a:t>
            </a:r>
            <a:br>
              <a:rPr lang="pt-BR" dirty="0"/>
            </a:br>
            <a:r>
              <a:rPr lang="pt-BR" dirty="0"/>
              <a:t>Usa </a:t>
            </a:r>
            <a:r>
              <a:rPr lang="pt-BR" b="1" dirty="0" err="1"/>
              <a:t>WebRTC</a:t>
            </a:r>
            <a:r>
              <a:rPr lang="pt-BR" b="1" dirty="0"/>
              <a:t> nativo</a:t>
            </a:r>
            <a:r>
              <a:rPr lang="pt-BR" dirty="0"/>
              <a:t>, permitindo mobilidade e integração via gateway SIP. Ou </a:t>
            </a:r>
            <a:r>
              <a:rPr lang="pt-BR" dirty="0" err="1"/>
              <a:t>Ou</a:t>
            </a:r>
            <a:r>
              <a:rPr lang="pt-BR" dirty="0"/>
              <a:t> implementar SIP Over </a:t>
            </a:r>
            <a:r>
              <a:rPr lang="pt-BR" dirty="0" err="1"/>
              <a:t>WebSocket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6195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b="1" dirty="0"/>
              <a:t>Gateway</a:t>
            </a:r>
            <a:endParaRPr lang="pt-BR" sz="25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2AF5CB-7AED-BD7D-9A4D-B5440BFF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706" y="3907684"/>
            <a:ext cx="4648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Interliga redes diferentes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 VoIP à telefonia tradicional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 protocolos e mídias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 em cenários híbridos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F7946D3-2B49-D76D-319B-DF3776D10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35" y="1524000"/>
            <a:ext cx="4096051" cy="283054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10A2008-0132-A5BF-74AE-2C70E89BC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06" y="1255325"/>
            <a:ext cx="2974399" cy="212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48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URA</a:t>
            </a:r>
            <a:endParaRPr lang="pt-BR" sz="25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01C3B4-D313-6A27-6DCE-E176B8DE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643" y="1009988"/>
            <a:ext cx="4724400" cy="4095412"/>
          </a:xfrm>
          <a:prstGeom prst="rect">
            <a:avLst/>
          </a:prstGeom>
        </p:spPr>
      </p:pic>
      <p:sp>
        <p:nvSpPr>
          <p:cNvPr id="8" name="Chave Esquerda 7">
            <a:extLst>
              <a:ext uri="{FF2B5EF4-FFF2-40B4-BE49-F238E27FC236}">
                <a16:creationId xmlns:a16="http://schemas.microsoft.com/office/drawing/2014/main" id="{93B4293E-5E8E-7E51-8BAF-B4C91A1BC7F7}"/>
              </a:ext>
            </a:extLst>
          </p:cNvPr>
          <p:cNvSpPr/>
          <p:nvPr/>
        </p:nvSpPr>
        <p:spPr>
          <a:xfrm>
            <a:off x="6553200" y="764652"/>
            <a:ext cx="838800" cy="319774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B60A54BC-9184-D903-AFB6-310B3C25B166}"/>
              </a:ext>
            </a:extLst>
          </p:cNvPr>
          <p:cNvSpPr/>
          <p:nvPr/>
        </p:nvSpPr>
        <p:spPr>
          <a:xfrm>
            <a:off x="10696593" y="764652"/>
            <a:ext cx="838200" cy="319774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6AE3E-09DA-716A-4143-27C59F49E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07" y="1381175"/>
            <a:ext cx="50734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Atendimento automático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Menus por voz ou teclado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Direcionamento de chamadas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Funcionalidade nativa do PBX</a:t>
            </a:r>
          </a:p>
        </p:txBody>
      </p:sp>
    </p:spTree>
    <p:extLst>
      <p:ext uri="{BB962C8B-B14F-4D97-AF65-F5344CB8AC3E}">
        <p14:creationId xmlns:p14="http://schemas.microsoft.com/office/powerpoint/2010/main" val="1263974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b="1" dirty="0"/>
              <a:t>Private Branch Exchange (IP-PBX)</a:t>
            </a:r>
            <a:endParaRPr lang="pt-BR" sz="25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A9245E-A570-1353-8708-EFB9A1A5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9100"/>
            <a:ext cx="5298693" cy="60198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3F0324E-ECAD-F9DC-717D-10B59DB93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07" y="1462378"/>
            <a:ext cx="560349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Centraliza a sinalização (SIP)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Gerencia e controla chamadas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 servidor de mídia (RTP)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Componente central da arquitetura VoIP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49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200" b="1" dirty="0"/>
              <a:t>SBC (</a:t>
            </a:r>
            <a:r>
              <a:rPr lang="pt-BR" sz="3200" b="1" dirty="0" err="1"/>
              <a:t>Session</a:t>
            </a:r>
            <a:r>
              <a:rPr lang="pt-BR" sz="3200" b="1" dirty="0"/>
              <a:t> Border </a:t>
            </a:r>
            <a:r>
              <a:rPr lang="pt-BR" sz="3200" b="1" dirty="0" err="1"/>
              <a:t>Controller</a:t>
            </a:r>
            <a:r>
              <a:rPr lang="pt-BR" sz="3200" b="1" dirty="0"/>
              <a:t>)</a:t>
            </a:r>
            <a:endParaRPr lang="pt-BR" sz="32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CBE769-823F-3B8B-F2E7-7EDCA1788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99" y="1752600"/>
            <a:ext cx="40671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dirty="0"/>
              <a:t>• Atua como ponto de controle entre redes VoIP</a:t>
            </a:r>
            <a:br>
              <a:rPr lang="pt-BR" dirty="0"/>
            </a:br>
            <a:r>
              <a:rPr lang="pt-BR" dirty="0"/>
              <a:t>• Protege e isola o PBX da rede externa</a:t>
            </a:r>
            <a:br>
              <a:rPr lang="pt-BR" dirty="0"/>
            </a:br>
            <a:r>
              <a:rPr lang="pt-BR" dirty="0"/>
              <a:t>• Controla sinalização (SIP) e mídia (RTP)</a:t>
            </a:r>
            <a:br>
              <a:rPr lang="pt-BR" dirty="0"/>
            </a:br>
            <a:r>
              <a:rPr lang="pt-BR" dirty="0"/>
              <a:t>• Permite interconexão com PSTN e </a:t>
            </a:r>
            <a:r>
              <a:rPr lang="pt-BR" dirty="0" err="1"/>
              <a:t>WebRTC</a:t>
            </a:r>
            <a:br>
              <a:rPr lang="pt-BR" dirty="0"/>
            </a:br>
            <a:r>
              <a:rPr lang="pt-BR" dirty="0"/>
              <a:t>• Usado em ambientes corporativos e operadoras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D0792F-0A2E-2B76-D1EB-AF69A8CD1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895" y="3079468"/>
            <a:ext cx="6248400" cy="28194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BA82F56-BFED-8458-5CB0-2D17FBF1F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1250"/>
            <a:ext cx="1238359" cy="99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05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SIPREC — Gravação de Sessões</a:t>
            </a:r>
            <a:endParaRPr lang="pt-BR" sz="25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CBE769-823F-3B8B-F2E7-7EDCA1788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07" y="218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Padrão para gravação de chamadas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Separação entre chamada e gravação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Envio de sinalização e mídia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 em ambientes corporativos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D0792F-0A2E-2B76-D1EB-AF69A8CD1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676400"/>
            <a:ext cx="6248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14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SIP </a:t>
            </a:r>
            <a:r>
              <a:rPr lang="pt-BR" sz="2500" dirty="0" err="1"/>
              <a:t>Trunk</a:t>
            </a:r>
            <a:endParaRPr lang="pt-BR" sz="25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2AF5CB-7AED-BD7D-9A4D-B5440BFF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07" y="1524000"/>
            <a:ext cx="46482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dirty="0"/>
              <a:t>• Conecta o sistema de telefonia do banco ao mundo externo</a:t>
            </a:r>
            <a:br>
              <a:rPr lang="pt-BR" dirty="0"/>
            </a:br>
            <a:r>
              <a:rPr lang="pt-BR" dirty="0"/>
              <a:t>• Permite ligações com clientes, agências e centrais</a:t>
            </a:r>
            <a:br>
              <a:rPr lang="pt-BR" dirty="0"/>
            </a:br>
            <a:r>
              <a:rPr lang="pt-BR" dirty="0"/>
              <a:t>• Usa a internet no lugar de linhas telefônicas tradicionais</a:t>
            </a:r>
            <a:br>
              <a:rPr lang="pt-BR" dirty="0"/>
            </a:br>
            <a:r>
              <a:rPr lang="pt-BR" dirty="0"/>
              <a:t>• Funciona de forma controlada e segura</a:t>
            </a:r>
            <a:br>
              <a:rPr lang="pt-BR" dirty="0"/>
            </a:br>
            <a:r>
              <a:rPr lang="pt-BR" dirty="0"/>
              <a:t>• Passa por um SBC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4E1376-CC49-52B2-E3C9-E5EC65156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794" y="1009988"/>
            <a:ext cx="3965713" cy="494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40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5">
            <a:extLst>
              <a:ext uri="{FF2B5EF4-FFF2-40B4-BE49-F238E27FC236}">
                <a16:creationId xmlns:a16="http://schemas.microsoft.com/office/drawing/2014/main" id="{CE6E49EE-D7CE-BFF0-8AAB-2C1374708467}"/>
              </a:ext>
            </a:extLst>
          </p:cNvPr>
          <p:cNvSpPr txBox="1">
            <a:spLocks/>
          </p:cNvSpPr>
          <p:nvPr/>
        </p:nvSpPr>
        <p:spPr>
          <a:xfrm>
            <a:off x="657207" y="764652"/>
            <a:ext cx="7706063" cy="490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500" dirty="0"/>
              <a:t>Arquitetura Completa</a:t>
            </a:r>
            <a:endParaRPr lang="pt-BR" sz="2500" b="1" dirty="0">
              <a:solidFill>
                <a:srgbClr val="1377C7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08D806-DAF6-F650-7AE0-058B6EBF328C}"/>
              </a:ext>
            </a:extLst>
          </p:cNvPr>
          <p:cNvSpPr txBox="1"/>
          <p:nvPr/>
        </p:nvSpPr>
        <p:spPr>
          <a:xfrm flipV="1">
            <a:off x="949706" y="1935621"/>
            <a:ext cx="2801747" cy="457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01C3B4-D313-6A27-6DCE-E176B8DE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643" y="1009988"/>
            <a:ext cx="4724400" cy="4095412"/>
          </a:xfrm>
          <a:prstGeom prst="rect">
            <a:avLst/>
          </a:prstGeom>
        </p:spPr>
      </p:pic>
      <p:sp>
        <p:nvSpPr>
          <p:cNvPr id="8" name="Chave Esquerda 7">
            <a:extLst>
              <a:ext uri="{FF2B5EF4-FFF2-40B4-BE49-F238E27FC236}">
                <a16:creationId xmlns:a16="http://schemas.microsoft.com/office/drawing/2014/main" id="{93B4293E-5E8E-7E51-8BAF-B4C91A1BC7F7}"/>
              </a:ext>
            </a:extLst>
          </p:cNvPr>
          <p:cNvSpPr/>
          <p:nvPr/>
        </p:nvSpPr>
        <p:spPr>
          <a:xfrm>
            <a:off x="6553200" y="764652"/>
            <a:ext cx="838800" cy="319774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B60A54BC-9184-D903-AFB6-310B3C25B166}"/>
              </a:ext>
            </a:extLst>
          </p:cNvPr>
          <p:cNvSpPr/>
          <p:nvPr/>
        </p:nvSpPr>
        <p:spPr>
          <a:xfrm>
            <a:off x="10696593" y="764652"/>
            <a:ext cx="838200" cy="319774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CBE769-823F-3B8B-F2E7-7EDCA1788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07" y="218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Padrão para gravação de chamadas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Separação entre chamada e gravação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Envio de sinalização e mídia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 em ambientes corporativos</a:t>
            </a:r>
          </a:p>
        </p:txBody>
      </p:sp>
    </p:spTree>
    <p:extLst>
      <p:ext uri="{BB962C8B-B14F-4D97-AF65-F5344CB8AC3E}">
        <p14:creationId xmlns:p14="http://schemas.microsoft.com/office/powerpoint/2010/main" val="93570888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1">
  <a:themeElements>
    <a:clrScheme name="Personalizada 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0070C0"/>
      </a:accent4>
      <a:accent5>
        <a:srgbClr val="4BACC6"/>
      </a:accent5>
      <a:accent6>
        <a:srgbClr val="F79646"/>
      </a:accent6>
      <a:hlink>
        <a:srgbClr val="0000FF"/>
      </a:hlink>
      <a:folHlink>
        <a:srgbClr val="7030A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1" id="{4AFD4DA6-EC9F-403F-8BED-7562FC65EE06}" vid="{94A91D7A-83BA-4B04-AF9C-46D6C035EAFB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14819</TotalTime>
  <Words>552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Arial Unicode MS</vt:lpstr>
      <vt:lpstr>Calibri</vt:lpstr>
      <vt:lpstr>Personalizar design</vt:lpstr>
      <vt:lpstr>Tema1</vt:lpstr>
      <vt:lpstr>Internet, Rede Privada e Comunicação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maicon roger</dc:creator>
  <cp:keywords/>
  <dc:description>generated using python-pptx</dc:description>
  <cp:lastModifiedBy>maicon roger</cp:lastModifiedBy>
  <cp:revision>80</cp:revision>
  <cp:lastPrinted>2024-06-17T13:55:03Z</cp:lastPrinted>
  <dcterms:created xsi:type="dcterms:W3CDTF">2013-01-27T09:14:16Z</dcterms:created>
  <dcterms:modified xsi:type="dcterms:W3CDTF">2025-12-18T14:05:51Z</dcterms:modified>
  <cp:category/>
</cp:coreProperties>
</file>