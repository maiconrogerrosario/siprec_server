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2" r:id="rId2"/>
  </p:sldMasterIdLst>
  <p:notesMasterIdLst>
    <p:notesMasterId r:id="rId27"/>
  </p:notesMasterIdLst>
  <p:sldIdLst>
    <p:sldId id="422" r:id="rId3"/>
    <p:sldId id="397" r:id="rId4"/>
    <p:sldId id="399" r:id="rId5"/>
    <p:sldId id="404" r:id="rId6"/>
    <p:sldId id="420" r:id="rId7"/>
    <p:sldId id="403" r:id="rId8"/>
    <p:sldId id="400" r:id="rId9"/>
    <p:sldId id="406" r:id="rId10"/>
    <p:sldId id="412" r:id="rId11"/>
    <p:sldId id="393" r:id="rId12"/>
    <p:sldId id="391" r:id="rId13"/>
    <p:sldId id="402" r:id="rId14"/>
    <p:sldId id="407" r:id="rId15"/>
    <p:sldId id="409" r:id="rId16"/>
    <p:sldId id="405" r:id="rId17"/>
    <p:sldId id="410" r:id="rId18"/>
    <p:sldId id="408" r:id="rId19"/>
    <p:sldId id="414" r:id="rId20"/>
    <p:sldId id="423" r:id="rId21"/>
    <p:sldId id="417" r:id="rId22"/>
    <p:sldId id="424" r:id="rId23"/>
    <p:sldId id="416" r:id="rId24"/>
    <p:sldId id="411" r:id="rId25"/>
    <p:sldId id="419" r:id="rId26"/>
  </p:sldIdLst>
  <p:sldSz cx="12192000" cy="6858000"/>
  <p:notesSz cx="6858000" cy="9144000"/>
  <p:defaultTextStyle>
    <a:defPPr>
      <a:defRPr lang="en-US"/>
    </a:defPPr>
    <a:lvl1pPr marL="0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2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5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7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9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90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72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4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7DE0B6C3-3FAD-4E29-992A-319D807E1C01}">
          <p14:sldIdLst>
            <p14:sldId id="422"/>
            <p14:sldId id="397"/>
            <p14:sldId id="399"/>
            <p14:sldId id="404"/>
            <p14:sldId id="420"/>
            <p14:sldId id="403"/>
            <p14:sldId id="400"/>
            <p14:sldId id="406"/>
            <p14:sldId id="412"/>
            <p14:sldId id="393"/>
            <p14:sldId id="391"/>
            <p14:sldId id="402"/>
            <p14:sldId id="407"/>
            <p14:sldId id="409"/>
            <p14:sldId id="405"/>
            <p14:sldId id="410"/>
            <p14:sldId id="408"/>
            <p14:sldId id="414"/>
            <p14:sldId id="423"/>
            <p14:sldId id="417"/>
            <p14:sldId id="424"/>
            <p14:sldId id="416"/>
            <p14:sldId id="411"/>
            <p14:sldId id="4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3C0"/>
    <a:srgbClr val="1377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0078" autoAdjust="0"/>
  </p:normalViewPr>
  <p:slideViewPr>
    <p:cSldViewPr snapToObjects="1">
      <p:cViewPr varScale="1">
        <p:scale>
          <a:sx n="65" d="100"/>
          <a:sy n="65" d="100"/>
        </p:scale>
        <p:origin x="858" y="66"/>
      </p:cViewPr>
      <p:guideLst>
        <p:guide orient="horz" pos="336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76266-CF61-4D56-8C0C-1A96DD1B9759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AC434-2CF8-4225-93CA-27281B919A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2073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2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45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27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09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90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72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54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8DC93F-59A3-E3E9-E7F4-BAC155287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9CA9B1-B0B6-F7BC-87E0-9730FBF26E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F29E1A3-F2D2-BA34-F307-4ECE7362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246FD8-0DB8-555A-5725-FF12F798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61B39E-B89F-BB61-7A3B-B0D0BA765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9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C01F10-8E17-4D8F-8999-93CB67E6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40C7AD-4BE1-29D9-61F6-8368B1ABD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90DB051-3BCB-8F9A-3146-A426CBEB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86A240-6078-D5FB-2F3C-8528FA9EF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A5D469-A0C7-D5A6-F279-F6CE0C23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6671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2953D-75FC-0996-8728-38D57FC33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411404E-CB42-5BA4-15B1-AE242FF5F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95C476-EA2A-E7AD-1983-A2FF2F727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82BE515-A7DD-8F37-8CC8-FD063C9C9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7E9E0A-CE1D-FF8F-9BEB-03EEB213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6369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8C2350-2FEC-66FA-A9B5-7ABC1B1EB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1384C2-F746-2CE1-F57D-8E121FF8A3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FA05EFE-7E27-75F8-4B6B-B006A7021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136627-9705-E686-0754-0503B75B3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BB1BFF-5912-0F1D-F193-9A3B1E8D9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D339BFE-0BB8-5699-70A1-47C49FA9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600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8B929-9E07-55AC-CB4C-F63254B09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229B06A-125A-234D-A257-9A578B4E00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DDEC424-8A75-D64C-EE11-F6D3133DA7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8316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297F76F-68CA-8B81-64A3-88C3FB4D5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632B0B-2461-5B6E-DB68-28776E3D4C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71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C195339-C6FE-4ED0-FD96-FFA8491C4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7AFEE42-4496-6241-296E-16B42B0BE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DA4D6F7-C5A4-8D1C-5086-E7FF50BF9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4335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F4A99F-25C3-B8E4-ABCF-ACFAF3037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EAA04F6-488D-93ED-0CEC-41BD32B91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54A78EC-DCE7-7D11-61F0-C4D5A10E5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A8A50E2-E33A-408C-D2AE-E6BD011EF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62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6D11E3B-9D51-22BC-EFAE-52A9077A1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6751120-028E-07A1-DB0B-182600D2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D4739F-28AF-D652-59A6-09C0D9137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74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9B3F-518E-4B88-3DA2-5DA5FF4A9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2F9362-7547-A076-F571-0FEB0F808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013536-CAFE-23F4-303E-AED1FC0F9B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439266-A7CB-4283-C14E-F0B652B42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0873856-4E70-2A89-8349-F3C615E07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AF44AC-1B85-0105-F654-B155F8C5C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8771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7CF9F8-A807-FB25-9F3A-4DB1EC57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B6CA7E4-7FA5-A14B-85C8-1C79A0DCAB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29796EB-8776-600C-5ACD-EA56F986F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FB8F58C-B3F4-3C93-20FB-5E3021341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A3179AF-2C09-3E85-D4D1-95474C425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4EBE50-5F99-AB0A-92AC-29D42361E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335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96C265-0A0E-DB39-6ECB-681381E8F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FAADC8-115E-2AEC-B5DA-3FAC176186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C9B075B-67A1-BD30-0ED0-E03429BAA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39AB54-E874-31F0-4093-4578AE97C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215353-60B7-949C-E307-BEBF6C04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910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74A474-7BDA-FFAE-01E8-B8DF54B2C4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0EA775-6F7A-77AC-A99E-733713269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6835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EC8857-EAEC-340F-86E7-AD9D02181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8F5B9B-4C2E-FAED-E26A-2CC102C48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27FBC-2A11-DCB7-6569-DD83761A1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635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220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220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789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40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25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3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230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51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4311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643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13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A10E61-6728-1A59-932C-7392A86D3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58909A1-B3F7-588B-A52F-0A374A8A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E3BD03-0078-7DB6-FCAF-BAFCEBA70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18B7AB-F4C2-4B0E-B8DA-F2BDFD5944C3}" type="datetimeFigureOut">
              <a:rPr lang="pt-BR" smtClean="0"/>
              <a:t>18/12/2025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7830AF-5E8D-DE56-B1DE-BEA4405EBF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674008-1772-ABE2-887E-97A11670DA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2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54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56677-8FF1-B3D5-D8E8-D7E7173FB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Arquitetura e Protocolos de Telefonia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34791F2-0CEE-B2D9-0423-774C5F0C5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1389612"/>
            <a:ext cx="6649278" cy="494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835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09DCFC-0A53-1D5A-ADD8-BFEACE0C3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1" dirty="0">
                <a:solidFill>
                  <a:srgbClr val="1273C0"/>
                </a:solidFill>
              </a:rPr>
              <a:t>Internet, Rede Privada e Comunicação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EDC7CE-E38B-0D15-5078-74B5B72B11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1323" y="1676400"/>
            <a:ext cx="54929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Comunicação ocorre sempre entre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 + Porta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 redes locais são usados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IPs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privados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Pela Internet há uso de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IPs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privados e públicos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Telefonia IP usa a infraestrutura de redes de dados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D831E87-7081-DEB3-E65C-7DCA76D89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1"/>
            <a:ext cx="5324475" cy="287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317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TCP </a:t>
            </a:r>
            <a:r>
              <a:rPr lang="pt-BR" sz="3200" b="1" dirty="0" err="1">
                <a:solidFill>
                  <a:srgbClr val="1273C0"/>
                </a:solidFill>
              </a:rPr>
              <a:t>vs</a:t>
            </a:r>
            <a:r>
              <a:rPr lang="pt-BR" sz="3200" b="1" dirty="0">
                <a:solidFill>
                  <a:srgbClr val="1273C0"/>
                </a:solidFill>
              </a:rPr>
              <a:t> UDP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61C9B-2BBB-A51A-F005-EF13DB5EA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43" y="2133600"/>
            <a:ext cx="5458458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confiável, orientado à conexão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UDP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rápido, sem garantia de entrega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Telefonia prioriza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baixa latência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Sinalização e mídia podem usar transportes diferentes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DE60C3F-5A9A-903C-8AB4-A2AF61F2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609600"/>
            <a:ext cx="5915657" cy="571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69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Terminais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CBF6BB5-AA40-7674-7B6D-8D61166B5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057400"/>
            <a:ext cx="1095375" cy="402907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A1760EA-8E72-9FC8-E7B8-C9AFA59D9C56}"/>
              </a:ext>
            </a:extLst>
          </p:cNvPr>
          <p:cNvSpPr txBox="1"/>
          <p:nvPr/>
        </p:nvSpPr>
        <p:spPr>
          <a:xfrm>
            <a:off x="2662557" y="2029599"/>
            <a:ext cx="7792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Dispositivo físico dedicado à telefonia.</a:t>
            </a:r>
            <a:br>
              <a:rPr lang="pt-BR" dirty="0"/>
            </a:br>
            <a:r>
              <a:rPr lang="pt-BR" dirty="0"/>
              <a:t>Implementa </a:t>
            </a:r>
            <a:r>
              <a:rPr lang="pt-BR" b="1" dirty="0"/>
              <a:t>SIP</a:t>
            </a:r>
            <a:r>
              <a:rPr lang="pt-BR" dirty="0"/>
              <a:t> e </a:t>
            </a:r>
            <a:r>
              <a:rPr lang="pt-BR" b="1" dirty="0"/>
              <a:t>RTP</a:t>
            </a:r>
            <a:r>
              <a:rPr lang="pt-BR" dirty="0"/>
              <a:t> diretamente no hardware, oferecendo maior estabilidade.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1DAD072-F2E3-A459-BC6E-A31304B944FA}"/>
              </a:ext>
            </a:extLst>
          </p:cNvPr>
          <p:cNvSpPr txBox="1"/>
          <p:nvPr/>
        </p:nvSpPr>
        <p:spPr>
          <a:xfrm>
            <a:off x="2668419" y="22419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B6E1099-9171-D475-64D9-F672C2D87200}"/>
              </a:ext>
            </a:extLst>
          </p:cNvPr>
          <p:cNvSpPr txBox="1"/>
          <p:nvPr/>
        </p:nvSpPr>
        <p:spPr>
          <a:xfrm>
            <a:off x="2651468" y="3006969"/>
            <a:ext cx="84737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Aplicação de computador ou aplicativo celular que funciona como telefone.</a:t>
            </a:r>
            <a:br>
              <a:rPr lang="pt-BR" dirty="0"/>
            </a:br>
            <a:r>
              <a:rPr lang="pt-BR" dirty="0"/>
              <a:t>Implementa </a:t>
            </a:r>
            <a:r>
              <a:rPr lang="pt-BR" b="1" dirty="0"/>
              <a:t>SIP</a:t>
            </a:r>
            <a:r>
              <a:rPr lang="pt-BR" dirty="0"/>
              <a:t> e </a:t>
            </a:r>
            <a:r>
              <a:rPr lang="pt-BR" b="1" dirty="0"/>
              <a:t>RTP</a:t>
            </a:r>
            <a:r>
              <a:rPr lang="pt-BR" dirty="0"/>
              <a:t> em software, utilizando recursos do sistema operacional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9D5DA72-601D-39E7-2EE5-76185D5BEED7}"/>
              </a:ext>
            </a:extLst>
          </p:cNvPr>
          <p:cNvSpPr txBox="1"/>
          <p:nvPr/>
        </p:nvSpPr>
        <p:spPr>
          <a:xfrm>
            <a:off x="2680776" y="4122061"/>
            <a:ext cx="80634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Telefone executado no navegador web.</a:t>
            </a:r>
            <a:br>
              <a:rPr lang="pt-BR" dirty="0"/>
            </a:br>
            <a:r>
              <a:rPr lang="pt-BR" dirty="0"/>
              <a:t>Utiliza </a:t>
            </a:r>
            <a:r>
              <a:rPr lang="pt-BR" b="1" dirty="0" err="1"/>
              <a:t>WebRTC</a:t>
            </a:r>
            <a:r>
              <a:rPr lang="pt-BR" dirty="0"/>
              <a:t> e precisa de um </a:t>
            </a:r>
            <a:r>
              <a:rPr lang="pt-BR" b="1" dirty="0"/>
              <a:t>gateway</a:t>
            </a:r>
            <a:r>
              <a:rPr lang="pt-BR" dirty="0"/>
              <a:t> para se comunicar com sistemas </a:t>
            </a:r>
            <a:r>
              <a:rPr lang="pt-BR" b="1" dirty="0"/>
              <a:t>SIP</a:t>
            </a:r>
            <a:r>
              <a:rPr lang="pt-BR" dirty="0"/>
              <a:t>,</a:t>
            </a:r>
            <a:br>
              <a:rPr lang="pt-BR" dirty="0"/>
            </a:br>
            <a:r>
              <a:rPr lang="pt-BR" dirty="0"/>
              <a:t>ou da implementação de </a:t>
            </a:r>
            <a:r>
              <a:rPr lang="pt-BR" b="1" dirty="0"/>
              <a:t>SIP over </a:t>
            </a:r>
            <a:r>
              <a:rPr lang="pt-BR" b="1" dirty="0" err="1"/>
              <a:t>WebSocket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A6A0938-4895-98E6-6ECA-7AE83822CD58}"/>
              </a:ext>
            </a:extLst>
          </p:cNvPr>
          <p:cNvSpPr txBox="1"/>
          <p:nvPr/>
        </p:nvSpPr>
        <p:spPr>
          <a:xfrm>
            <a:off x="2651468" y="5237153"/>
            <a:ext cx="60930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Aplicativo móvel para chamadas de voz.</a:t>
            </a:r>
            <a:br>
              <a:rPr lang="pt-BR" dirty="0"/>
            </a:br>
            <a:r>
              <a:rPr lang="pt-BR" dirty="0"/>
              <a:t>Utiliza </a:t>
            </a:r>
            <a:r>
              <a:rPr lang="pt-BR" b="1" dirty="0" err="1"/>
              <a:t>WebRTC</a:t>
            </a:r>
            <a:r>
              <a:rPr lang="pt-BR" b="1" dirty="0"/>
              <a:t> nativo</a:t>
            </a:r>
            <a:r>
              <a:rPr lang="pt-BR" dirty="0"/>
              <a:t>, permitindo mobilidade e integração via </a:t>
            </a:r>
            <a:r>
              <a:rPr lang="pt-BR" b="1" dirty="0"/>
              <a:t>gateway SIP</a:t>
            </a:r>
            <a:r>
              <a:rPr lang="pt-BR" dirty="0"/>
              <a:t>,</a:t>
            </a:r>
            <a:br>
              <a:rPr lang="pt-BR" dirty="0"/>
            </a:br>
            <a:r>
              <a:rPr lang="pt-BR" dirty="0"/>
              <a:t>ou a implementação de </a:t>
            </a:r>
            <a:r>
              <a:rPr lang="pt-BR" b="1" dirty="0"/>
              <a:t>SIP over </a:t>
            </a:r>
            <a:r>
              <a:rPr lang="pt-BR" b="1" dirty="0" err="1"/>
              <a:t>WebSocket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16195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NAT · STUN · TURN · ICE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1DAD072-F2E3-A459-BC6E-A31304B944FA}"/>
              </a:ext>
            </a:extLst>
          </p:cNvPr>
          <p:cNvSpPr txBox="1"/>
          <p:nvPr/>
        </p:nvSpPr>
        <p:spPr>
          <a:xfrm>
            <a:off x="2668419" y="22419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E63455E-33A7-A70E-673E-CA9FF1EA9EB8}"/>
              </a:ext>
            </a:extLst>
          </p:cNvPr>
          <p:cNvSpPr txBox="1"/>
          <p:nvPr/>
        </p:nvSpPr>
        <p:spPr>
          <a:xfrm>
            <a:off x="928371" y="1981364"/>
            <a:ext cx="1033525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NAT </a:t>
            </a:r>
          </a:p>
          <a:p>
            <a:r>
              <a:rPr lang="pt-BR" dirty="0"/>
              <a:t>	• Traduz IP privado em IP público</a:t>
            </a:r>
            <a:br>
              <a:rPr lang="pt-BR" dirty="0"/>
            </a:br>
            <a:r>
              <a:rPr lang="pt-BR" dirty="0"/>
              <a:t>	• Executado pelo roteador ou firewall</a:t>
            </a:r>
            <a:br>
              <a:rPr lang="pt-BR" dirty="0"/>
            </a:br>
            <a:r>
              <a:rPr lang="pt-BR" dirty="0"/>
              <a:t>	• Pode impactar a mídia (RTP)</a:t>
            </a:r>
            <a:endParaRPr lang="pt-BR" b="1" dirty="0"/>
          </a:p>
          <a:p>
            <a:r>
              <a:rPr lang="pt-BR" b="1" dirty="0"/>
              <a:t>STUN</a:t>
            </a:r>
            <a:br>
              <a:rPr lang="pt-BR" dirty="0"/>
            </a:br>
            <a:r>
              <a:rPr lang="pt-BR" dirty="0"/>
              <a:t>	• Descobre IP público e porta</a:t>
            </a:r>
            <a:br>
              <a:rPr lang="pt-BR" dirty="0"/>
            </a:br>
            <a:r>
              <a:rPr lang="pt-BR" dirty="0"/>
              <a:t>	• Permite comunicação direta</a:t>
            </a:r>
            <a:br>
              <a:rPr lang="pt-BR" dirty="0"/>
            </a:br>
            <a:r>
              <a:rPr lang="pt-BR" dirty="0"/>
              <a:t>	• Funciona em NATs mais simples</a:t>
            </a:r>
          </a:p>
          <a:p>
            <a:r>
              <a:rPr lang="pt-BR" b="1" dirty="0"/>
              <a:t>TURN</a:t>
            </a:r>
            <a:br>
              <a:rPr lang="pt-BR" dirty="0"/>
            </a:br>
            <a:r>
              <a:rPr lang="pt-BR" dirty="0"/>
              <a:t>	• Atua como relay de mídia</a:t>
            </a:r>
            <a:br>
              <a:rPr lang="pt-BR" dirty="0"/>
            </a:br>
            <a:r>
              <a:rPr lang="pt-BR" dirty="0"/>
              <a:t>	• Usado quando STUN falha</a:t>
            </a:r>
            <a:br>
              <a:rPr lang="pt-BR" dirty="0"/>
            </a:br>
            <a:r>
              <a:rPr lang="pt-BR" dirty="0"/>
              <a:t>	• Garante conexão, com maior latência</a:t>
            </a:r>
          </a:p>
          <a:p>
            <a:r>
              <a:rPr lang="pt-BR" b="1" dirty="0"/>
              <a:t>ICE</a:t>
            </a:r>
            <a:br>
              <a:rPr lang="pt-BR" dirty="0"/>
            </a:br>
            <a:r>
              <a:rPr lang="pt-BR" dirty="0"/>
              <a:t>	• Coordena STUN e TURN</a:t>
            </a:r>
            <a:br>
              <a:rPr lang="pt-BR" dirty="0"/>
            </a:br>
            <a:r>
              <a:rPr lang="pt-BR" dirty="0"/>
              <a:t>	• Testa múltiplos caminhos</a:t>
            </a:r>
            <a:br>
              <a:rPr lang="pt-BR" dirty="0"/>
            </a:br>
            <a:r>
              <a:rPr lang="pt-BR" dirty="0"/>
              <a:t>	• Escolhe a melhor rota de mídia</a:t>
            </a:r>
          </a:p>
        </p:txBody>
      </p:sp>
    </p:spTree>
    <p:extLst>
      <p:ext uri="{BB962C8B-B14F-4D97-AF65-F5344CB8AC3E}">
        <p14:creationId xmlns:p14="http://schemas.microsoft.com/office/powerpoint/2010/main" val="3564850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 11">
            <a:extLst>
              <a:ext uri="{FF2B5EF4-FFF2-40B4-BE49-F238E27FC236}">
                <a16:creationId xmlns:a16="http://schemas.microsoft.com/office/drawing/2014/main" id="{E3C8E7B3-010F-3ECC-2468-863579E7DD9D}"/>
              </a:ext>
            </a:extLst>
          </p:cNvPr>
          <p:cNvSpPr/>
          <p:nvPr/>
        </p:nvSpPr>
        <p:spPr>
          <a:xfrm>
            <a:off x="7010400" y="4800600"/>
            <a:ext cx="3581399" cy="13846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Áudio Digital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C45AF65-1760-EF56-A747-B1EA3D1D8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42" y="1651363"/>
            <a:ext cx="563880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Voz é um sinal analógico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Convertida para áudio digital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Representada por amostras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Preparada para transmissão em rede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Modulação PCM</a:t>
            </a:r>
          </a:p>
        </p:txBody>
      </p:sp>
      <p:pic>
        <p:nvPicPr>
          <p:cNvPr id="5" name="Gráfico 4" descr="Viva-voz com preenchimento sólido">
            <a:extLst>
              <a:ext uri="{FF2B5EF4-FFF2-40B4-BE49-F238E27FC236}">
                <a16:creationId xmlns:a16="http://schemas.microsoft.com/office/drawing/2014/main" id="{50D8B75B-703D-30F3-A3EA-A1CB0854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0" y="4970426"/>
            <a:ext cx="914400" cy="9144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98A57F64-9770-497F-D0D5-B5567A5FC4A9}"/>
              </a:ext>
            </a:extLst>
          </p:cNvPr>
          <p:cNvSpPr/>
          <p:nvPr/>
        </p:nvSpPr>
        <p:spPr>
          <a:xfrm>
            <a:off x="2895600" y="4800600"/>
            <a:ext cx="3200400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57457CE-FF49-3EB9-0014-0DAC44BD6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7012" y="5077492"/>
            <a:ext cx="3063658" cy="851184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165B912-0FDF-12B5-E06E-ACB3F40C5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603" y="4996828"/>
            <a:ext cx="3197797" cy="1012513"/>
          </a:xfrm>
          <a:prstGeom prst="rect">
            <a:avLst/>
          </a:prstGeom>
        </p:spPr>
      </p:pic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3487014A-3628-F68A-3266-5EE0BDB0278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295400" y="5486400"/>
            <a:ext cx="1600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793EC9C3-A38D-93D1-20AA-BE17E89B6AC4}"/>
              </a:ext>
            </a:extLst>
          </p:cNvPr>
          <p:cNvCxnSpPr>
            <a:cxnSpLocks/>
          </p:cNvCxnSpPr>
          <p:nvPr/>
        </p:nvCxnSpPr>
        <p:spPr>
          <a:xfrm>
            <a:off x="6096000" y="5499498"/>
            <a:ext cx="914400" cy="3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441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Codec de Áudio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664E3A5-8F3D-07A9-4C59-7E88BB2C0C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3065" y="1676400"/>
            <a:ext cx="5219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Define o formato do áudio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Aplica compressão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Realiza codificação e decodificação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Atua de ponta a ponta na comunicação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071B419-C09F-A022-6939-DABE10332E65}"/>
              </a:ext>
            </a:extLst>
          </p:cNvPr>
          <p:cNvSpPr/>
          <p:nvPr/>
        </p:nvSpPr>
        <p:spPr>
          <a:xfrm>
            <a:off x="6019800" y="4805293"/>
            <a:ext cx="2149842" cy="10574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Gráfico 6" descr="Viva-voz com preenchimento sólido">
            <a:extLst>
              <a:ext uri="{FF2B5EF4-FFF2-40B4-BE49-F238E27FC236}">
                <a16:creationId xmlns:a16="http://schemas.microsoft.com/office/drawing/2014/main" id="{93BCAC82-5EB6-B918-88AD-2838AF596A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1" y="4970426"/>
            <a:ext cx="652028" cy="698275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D2C30BBA-F059-236E-B340-931C4EDFE4B2}"/>
              </a:ext>
            </a:extLst>
          </p:cNvPr>
          <p:cNvSpPr/>
          <p:nvPr/>
        </p:nvSpPr>
        <p:spPr>
          <a:xfrm>
            <a:off x="2895600" y="4800600"/>
            <a:ext cx="1921136" cy="10474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FA2D9B1-5403-68BE-C655-6B9B5D964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3527" y="5060315"/>
            <a:ext cx="1688132" cy="50228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2780212-E435-8B89-90E3-0E37BDADA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223" y="5038405"/>
            <a:ext cx="1812777" cy="671872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059D3910-28E6-3379-EBC5-2E96FCD07661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85429" y="5324306"/>
            <a:ext cx="17101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2B0F93C9-EE65-CAA6-6493-4B84AB7C3CD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816736" y="5324306"/>
            <a:ext cx="1203064" cy="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Retângulo 24">
            <a:extLst>
              <a:ext uri="{FF2B5EF4-FFF2-40B4-BE49-F238E27FC236}">
                <a16:creationId xmlns:a16="http://schemas.microsoft.com/office/drawing/2014/main" id="{4FDD5BC6-D024-F50E-592A-0DA3A24047F5}"/>
              </a:ext>
            </a:extLst>
          </p:cNvPr>
          <p:cNvSpPr/>
          <p:nvPr/>
        </p:nvSpPr>
        <p:spPr>
          <a:xfrm>
            <a:off x="9372706" y="4805293"/>
            <a:ext cx="1523894" cy="10574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A6068895-C02B-0359-C06B-DF37BFDBA0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255" y="5181929"/>
            <a:ext cx="1134883" cy="384823"/>
          </a:xfrm>
          <a:prstGeom prst="rect">
            <a:avLst/>
          </a:prstGeom>
        </p:spPr>
      </p:pic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464B2C6-0678-D031-CB1A-030B7346540F}"/>
              </a:ext>
            </a:extLst>
          </p:cNvPr>
          <p:cNvCxnSpPr>
            <a:cxnSpLocks/>
          </p:cNvCxnSpPr>
          <p:nvPr/>
        </p:nvCxnSpPr>
        <p:spPr>
          <a:xfrm>
            <a:off x="8169423" y="5306610"/>
            <a:ext cx="1203064" cy="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DCFC116A-7E62-09FC-4A11-4BE7E8B42097}"/>
              </a:ext>
            </a:extLst>
          </p:cNvPr>
          <p:cNvSpPr txBox="1"/>
          <p:nvPr/>
        </p:nvSpPr>
        <p:spPr>
          <a:xfrm>
            <a:off x="8737973" y="4377273"/>
            <a:ext cx="316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Codec de Áudio (PCM → G.711)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344940C-5692-CF60-CF05-844B587191C8}"/>
              </a:ext>
            </a:extLst>
          </p:cNvPr>
          <p:cNvSpPr txBox="1"/>
          <p:nvPr/>
        </p:nvSpPr>
        <p:spPr>
          <a:xfrm>
            <a:off x="5816747" y="4418415"/>
            <a:ext cx="25557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Áudio Digital (PCM)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AAEC742-3B92-43F7-CC8D-8ECF0BBF47E9}"/>
              </a:ext>
            </a:extLst>
          </p:cNvPr>
          <p:cNvSpPr txBox="1"/>
          <p:nvPr/>
        </p:nvSpPr>
        <p:spPr>
          <a:xfrm>
            <a:off x="2898847" y="4426267"/>
            <a:ext cx="193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Áudio Analógico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9F671AC-F0BB-320F-8007-64A2046F52E0}"/>
              </a:ext>
            </a:extLst>
          </p:cNvPr>
          <p:cNvSpPr txBox="1"/>
          <p:nvPr/>
        </p:nvSpPr>
        <p:spPr>
          <a:xfrm>
            <a:off x="6128253" y="5911153"/>
            <a:ext cx="193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Tamanho original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D1F12C6-B647-7ECC-83CB-DE657C11564B}"/>
              </a:ext>
            </a:extLst>
          </p:cNvPr>
          <p:cNvSpPr txBox="1"/>
          <p:nvPr/>
        </p:nvSpPr>
        <p:spPr>
          <a:xfrm>
            <a:off x="9225338" y="5911153"/>
            <a:ext cx="19327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Tamanho Comprimido</a:t>
            </a:r>
          </a:p>
        </p:txBody>
      </p:sp>
    </p:spTree>
    <p:extLst>
      <p:ext uri="{BB962C8B-B14F-4D97-AF65-F5344CB8AC3E}">
        <p14:creationId xmlns:p14="http://schemas.microsoft.com/office/powerpoint/2010/main" val="2071174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RTP (Real-Time-</a:t>
            </a:r>
            <a:r>
              <a:rPr lang="pt-BR" sz="3200" b="1" dirty="0" err="1">
                <a:solidFill>
                  <a:srgbClr val="1273C0"/>
                </a:solidFill>
              </a:rPr>
              <a:t>Protocol</a:t>
            </a:r>
            <a:r>
              <a:rPr lang="pt-BR" sz="3200" b="1" dirty="0">
                <a:solidFill>
                  <a:srgbClr val="1273C0"/>
                </a:solidFill>
              </a:rPr>
              <a:t>)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8784249-D490-3059-C48E-D449D181B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305615"/>
            <a:ext cx="521970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Transporta áudio e vídeo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Funciona sobre UDP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Envia pacotes sequenciais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Conecta os terminais ou passa pelo PBX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B6E6F2-7CF8-148B-4824-63DACEB52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877" y="1804527"/>
            <a:ext cx="5877745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818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D15226C-91C2-8008-96D8-12EAED99F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457200"/>
            <a:ext cx="6277904" cy="246279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EDD2E02-BD0C-FA1F-EA46-A7B1B0F26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3429000"/>
            <a:ext cx="1209844" cy="150516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AD3AEDC-71BF-0597-C012-2C26E10F7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3103" y="3429000"/>
            <a:ext cx="1209844" cy="1505160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A419963A-534C-870C-2C2D-72BF0B7633D8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9948025" y="4934160"/>
            <a:ext cx="0" cy="726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0402CED-FDEE-9E01-7ABB-76D38925C4CD}"/>
              </a:ext>
            </a:extLst>
          </p:cNvPr>
          <p:cNvSpPr/>
          <p:nvPr/>
        </p:nvSpPr>
        <p:spPr>
          <a:xfrm>
            <a:off x="4724401" y="5303427"/>
            <a:ext cx="3445931" cy="7191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56FA388E-318A-7A99-6C5C-AA8E3D756DDD}"/>
              </a:ext>
            </a:extLst>
          </p:cNvPr>
          <p:cNvCxnSpPr>
            <a:stCxn id="4" idx="2"/>
          </p:cNvCxnSpPr>
          <p:nvPr/>
        </p:nvCxnSpPr>
        <p:spPr>
          <a:xfrm>
            <a:off x="2586122" y="4934160"/>
            <a:ext cx="4678" cy="704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4BBA3910-6478-EB47-A002-FB79FA494BA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603054" y="5641564"/>
            <a:ext cx="2121347" cy="214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EDEF73A6-8E1A-C999-16E0-BA0A58C24261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8170332" y="5662996"/>
            <a:ext cx="179462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5A839527-5551-6522-817A-22CFF11D087C}"/>
              </a:ext>
            </a:extLst>
          </p:cNvPr>
          <p:cNvCxnSpPr>
            <a:cxnSpLocks/>
          </p:cNvCxnSpPr>
          <p:nvPr/>
        </p:nvCxnSpPr>
        <p:spPr>
          <a:xfrm>
            <a:off x="54102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8D38D885-A082-D0A0-7D47-31733A514D79}"/>
              </a:ext>
            </a:extLst>
          </p:cNvPr>
          <p:cNvCxnSpPr/>
          <p:nvPr/>
        </p:nvCxnSpPr>
        <p:spPr>
          <a:xfrm>
            <a:off x="60960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438571B3-E07D-F183-905B-63D20BC2421D}"/>
              </a:ext>
            </a:extLst>
          </p:cNvPr>
          <p:cNvCxnSpPr/>
          <p:nvPr/>
        </p:nvCxnSpPr>
        <p:spPr>
          <a:xfrm>
            <a:off x="67818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ector reto 34">
            <a:extLst>
              <a:ext uri="{FF2B5EF4-FFF2-40B4-BE49-F238E27FC236}">
                <a16:creationId xmlns:a16="http://schemas.microsoft.com/office/drawing/2014/main" id="{543CC321-D899-1A33-1328-D805EE356517}"/>
              </a:ext>
            </a:extLst>
          </p:cNvPr>
          <p:cNvCxnSpPr/>
          <p:nvPr/>
        </p:nvCxnSpPr>
        <p:spPr>
          <a:xfrm>
            <a:off x="74676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CF06B95C-56D4-009A-4779-F3CD0D9B82AE}"/>
              </a:ext>
            </a:extLst>
          </p:cNvPr>
          <p:cNvSpPr txBox="1"/>
          <p:nvPr/>
        </p:nvSpPr>
        <p:spPr>
          <a:xfrm>
            <a:off x="4822723" y="5537121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EB95BD6-649C-5813-2C40-1463EC6EDF7A}"/>
              </a:ext>
            </a:extLst>
          </p:cNvPr>
          <p:cNvSpPr txBox="1"/>
          <p:nvPr/>
        </p:nvSpPr>
        <p:spPr>
          <a:xfrm>
            <a:off x="5499165" y="5539885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D5CA548-9D4A-0369-82AC-F61DB3EF9EAD}"/>
              </a:ext>
            </a:extLst>
          </p:cNvPr>
          <p:cNvSpPr txBox="1"/>
          <p:nvPr/>
        </p:nvSpPr>
        <p:spPr>
          <a:xfrm>
            <a:off x="6176879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C4CBAB5-8638-539E-D4A9-EB4FC3E7CAF9}"/>
              </a:ext>
            </a:extLst>
          </p:cNvPr>
          <p:cNvSpPr txBox="1"/>
          <p:nvPr/>
        </p:nvSpPr>
        <p:spPr>
          <a:xfrm>
            <a:off x="6858274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42B383A-9FC0-40CE-1B4D-226611BA9285}"/>
              </a:ext>
            </a:extLst>
          </p:cNvPr>
          <p:cNvSpPr txBox="1"/>
          <p:nvPr/>
        </p:nvSpPr>
        <p:spPr>
          <a:xfrm>
            <a:off x="7522310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5AED5AC6-1855-3889-32F8-2C70B1FDC28C}"/>
              </a:ext>
            </a:extLst>
          </p:cNvPr>
          <p:cNvSpPr txBox="1"/>
          <p:nvPr/>
        </p:nvSpPr>
        <p:spPr>
          <a:xfrm>
            <a:off x="4893733" y="4998774"/>
            <a:ext cx="32719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/>
              <a:t>Rede de Dados(Internet ou Lan)</a:t>
            </a:r>
          </a:p>
        </p:txBody>
      </p:sp>
    </p:spTree>
    <p:extLst>
      <p:ext uri="{BB962C8B-B14F-4D97-AF65-F5344CB8AC3E}">
        <p14:creationId xmlns:p14="http://schemas.microsoft.com/office/powerpoint/2010/main" val="1137521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D7DEE18-1516-7785-54AC-B409C455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00" y="1821883"/>
            <a:ext cx="2524477" cy="790685"/>
          </a:xfrm>
          <a:prstGeom prst="rect">
            <a:avLst/>
          </a:prstGeom>
        </p:spPr>
      </p:pic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SDP (</a:t>
            </a:r>
            <a:r>
              <a:rPr lang="pt-BR" sz="2500" b="1" dirty="0" err="1">
                <a:solidFill>
                  <a:srgbClr val="1273C0"/>
                </a:solidFill>
              </a:rPr>
              <a:t>Session</a:t>
            </a:r>
            <a:r>
              <a:rPr lang="pt-BR" sz="2500" b="1" dirty="0">
                <a:solidFill>
                  <a:srgbClr val="1273C0"/>
                </a:solidFill>
              </a:rPr>
              <a:t> </a:t>
            </a:r>
            <a:r>
              <a:rPr lang="pt-BR" sz="2500" b="1" dirty="0" err="1">
                <a:solidFill>
                  <a:srgbClr val="1273C0"/>
                </a:solidFill>
              </a:rPr>
              <a:t>Description</a:t>
            </a:r>
            <a:r>
              <a:rPr lang="pt-BR" sz="2500" b="1" dirty="0">
                <a:solidFill>
                  <a:srgbClr val="1273C0"/>
                </a:solidFill>
              </a:rPr>
              <a:t> </a:t>
            </a:r>
            <a:r>
              <a:rPr lang="pt-BR" sz="2500" b="1" dirty="0" err="1">
                <a:solidFill>
                  <a:srgbClr val="1273C0"/>
                </a:solidFill>
              </a:rPr>
              <a:t>Protocol</a:t>
            </a:r>
            <a:r>
              <a:rPr lang="pt-BR" sz="2500" b="1" dirty="0">
                <a:solidFill>
                  <a:srgbClr val="1273C0"/>
                </a:solidFill>
              </a:rPr>
              <a:t>)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14D58AA-2836-579A-E6E3-8DDB0AAE05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168" y="1255325"/>
            <a:ext cx="6925188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Função: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descrição da sessão de mídia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Usado em: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SIP (INVITE / 200 OK)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Define: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 e porta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 de mídia (áudio/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Codec e parâmetros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Campos principais: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conexão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mídia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atributos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176292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rgbClr val="1377C7"/>
                </a:solidFill>
              </a:rPr>
              <a:t>SIP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>
            <a:off x="457200" y="1413064"/>
            <a:ext cx="6096000" cy="20159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Função: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controle da chamada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Métodos: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INVITE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·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ACK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·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BYE</a:t>
            </a: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Portas: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5060 / 5061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Transporte: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UDP · TCP · TLS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WebRTC</a:t>
            </a: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SIP over </a:t>
            </a:r>
            <a:r>
              <a:rPr kumimoji="0" lang="pt-BR" altLang="pt-BR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WebSocket</a:t>
            </a: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701C3B4-D313-6A27-6DCE-E176B8D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643" y="1009988"/>
            <a:ext cx="4724400" cy="4095412"/>
          </a:xfrm>
          <a:prstGeom prst="rect">
            <a:avLst/>
          </a:prstGeom>
        </p:spPr>
      </p:pic>
      <p:sp>
        <p:nvSpPr>
          <p:cNvPr id="8" name="Chave Esquerda 7">
            <a:extLst>
              <a:ext uri="{FF2B5EF4-FFF2-40B4-BE49-F238E27FC236}">
                <a16:creationId xmlns:a16="http://schemas.microsoft.com/office/drawing/2014/main" id="{93B4293E-5E8E-7E51-8BAF-B4C91A1BC7F7}"/>
              </a:ext>
            </a:extLst>
          </p:cNvPr>
          <p:cNvSpPr/>
          <p:nvPr/>
        </p:nvSpPr>
        <p:spPr>
          <a:xfrm>
            <a:off x="6553200" y="764652"/>
            <a:ext cx="838800" cy="31977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B60A54BC-9184-D903-AFB6-310B3C25B166}"/>
              </a:ext>
            </a:extLst>
          </p:cNvPr>
          <p:cNvSpPr/>
          <p:nvPr/>
        </p:nvSpPr>
        <p:spPr>
          <a:xfrm>
            <a:off x="10696593" y="764652"/>
            <a:ext cx="838200" cy="319774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have Esquerda 10">
            <a:extLst>
              <a:ext uri="{FF2B5EF4-FFF2-40B4-BE49-F238E27FC236}">
                <a16:creationId xmlns:a16="http://schemas.microsoft.com/office/drawing/2014/main" id="{42A707EB-272F-3FC2-0976-133D15B295A9}"/>
              </a:ext>
            </a:extLst>
          </p:cNvPr>
          <p:cNvSpPr/>
          <p:nvPr/>
        </p:nvSpPr>
        <p:spPr>
          <a:xfrm>
            <a:off x="6682319" y="4081616"/>
            <a:ext cx="503761" cy="90456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0000"/>
              </a:solidFill>
            </a:endParaRPr>
          </a:p>
        </p:txBody>
      </p:sp>
      <p:sp>
        <p:nvSpPr>
          <p:cNvPr id="12" name="Chave Esquerda 11">
            <a:extLst>
              <a:ext uri="{FF2B5EF4-FFF2-40B4-BE49-F238E27FC236}">
                <a16:creationId xmlns:a16="http://schemas.microsoft.com/office/drawing/2014/main" id="{B5220262-D2AF-60CC-E09F-FD6D3290DFFE}"/>
              </a:ext>
            </a:extLst>
          </p:cNvPr>
          <p:cNvSpPr/>
          <p:nvPr/>
        </p:nvSpPr>
        <p:spPr>
          <a:xfrm rot="10800000">
            <a:off x="9906000" y="4074242"/>
            <a:ext cx="503761" cy="90456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122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Fluxo de uma Chamada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A89B64D-25CA-28DA-B42E-374ED37B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25876"/>
            <a:ext cx="5687219" cy="502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16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Gateway SIP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AF5CB-7AED-BD7D-9A4D-B5440BFF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706" y="3907684"/>
            <a:ext cx="46482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Interliga redes diferentes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Conecta VoIP à telefonia tradicional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Converte protocolos e mídias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Usado em cenários híbridos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F7946D3-2B49-D76D-319B-DF3776D10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935" y="1524000"/>
            <a:ext cx="4096051" cy="283054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10A2008-0132-A5BF-74AE-2C70E89BC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6" y="1255325"/>
            <a:ext cx="2974399" cy="212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348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URA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17CCD8-FA75-4A10-0EA9-99F9682DF527}"/>
              </a:ext>
            </a:extLst>
          </p:cNvPr>
          <p:cNvSpPr txBox="1"/>
          <p:nvPr/>
        </p:nvSpPr>
        <p:spPr>
          <a:xfrm>
            <a:off x="704919" y="1752600"/>
            <a:ext cx="609306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Atendimento automático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Menus por voz ou teclado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Direcionamento de chamadas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Funcionalidade nativa do PBX</a:t>
            </a:r>
          </a:p>
        </p:txBody>
      </p:sp>
    </p:spTree>
    <p:extLst>
      <p:ext uri="{BB962C8B-B14F-4D97-AF65-F5344CB8AC3E}">
        <p14:creationId xmlns:p14="http://schemas.microsoft.com/office/powerpoint/2010/main" val="1263974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Private Branch Exchange (PBX)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CA9245E-A570-1353-8708-EFB9A1A55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9100"/>
            <a:ext cx="5298693" cy="60198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23F0324E-ECAD-F9DC-717D-10B59DB93C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507" y="1462378"/>
            <a:ext cx="5603493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Centraliza a sinalização (SIP)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Gerencia e controla chamadas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 servidor de mídia (RTP)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Componente central da arquitetura VoIP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496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SBC (</a:t>
            </a:r>
            <a:r>
              <a:rPr lang="pt-BR" sz="3200" b="1" dirty="0" err="1">
                <a:solidFill>
                  <a:srgbClr val="1273C0"/>
                </a:solidFill>
              </a:rPr>
              <a:t>Session</a:t>
            </a:r>
            <a:r>
              <a:rPr lang="pt-BR" sz="3200" b="1" dirty="0">
                <a:solidFill>
                  <a:srgbClr val="1273C0"/>
                </a:solidFill>
              </a:rPr>
              <a:t> Border </a:t>
            </a:r>
            <a:r>
              <a:rPr lang="pt-BR" sz="3200" b="1" dirty="0" err="1">
                <a:solidFill>
                  <a:srgbClr val="1273C0"/>
                </a:solidFill>
              </a:rPr>
              <a:t>Controller</a:t>
            </a:r>
            <a:r>
              <a:rPr lang="pt-BR" sz="3200" b="1" dirty="0">
                <a:solidFill>
                  <a:srgbClr val="1273C0"/>
                </a:solidFill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CBE769-823F-3B8B-F2E7-7EDCA1788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899" y="1752600"/>
            <a:ext cx="406719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pt-BR" dirty="0"/>
              <a:t>• Atua como ponto de controle entre redes VoIP</a:t>
            </a:r>
            <a:br>
              <a:rPr lang="pt-BR" dirty="0"/>
            </a:br>
            <a:r>
              <a:rPr lang="pt-BR" dirty="0"/>
              <a:t>• Protege e isola o PBX da rede externa</a:t>
            </a:r>
            <a:br>
              <a:rPr lang="pt-BR" dirty="0"/>
            </a:br>
            <a:r>
              <a:rPr lang="pt-BR" dirty="0"/>
              <a:t>• Controla sinalização (SIP) e mídia (RTP)</a:t>
            </a:r>
            <a:br>
              <a:rPr lang="pt-BR" dirty="0"/>
            </a:br>
            <a:r>
              <a:rPr lang="pt-BR" dirty="0"/>
              <a:t>• Permite interconexão com PSTN e </a:t>
            </a:r>
            <a:r>
              <a:rPr lang="pt-BR" dirty="0" err="1"/>
              <a:t>WebRTC</a:t>
            </a:r>
            <a:br>
              <a:rPr lang="pt-BR" dirty="0"/>
            </a:br>
            <a:r>
              <a:rPr lang="pt-BR" dirty="0"/>
              <a:t>• Usado em ambientes corporativos e operadoras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4D0792F-0A2E-2B76-D1EB-AF69A8CD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895" y="3079468"/>
            <a:ext cx="6248400" cy="28194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BA82F56-BFED-8458-5CB0-2D17FBF1F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81250"/>
            <a:ext cx="1238359" cy="99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05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>
                <a:solidFill>
                  <a:srgbClr val="1273C0"/>
                </a:solidFill>
              </a:rPr>
              <a:t>SIP </a:t>
            </a:r>
            <a:r>
              <a:rPr lang="pt-BR" sz="2500" dirty="0" err="1">
                <a:solidFill>
                  <a:srgbClr val="1273C0"/>
                </a:solidFill>
              </a:rPr>
              <a:t>Trunk</a:t>
            </a:r>
            <a:endParaRPr lang="pt-BR" sz="2500" b="1" dirty="0">
              <a:solidFill>
                <a:srgbClr val="1273C0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AF5CB-7AED-BD7D-9A4D-B5440BFF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07" y="1524000"/>
            <a:ext cx="464820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pt-BR" dirty="0"/>
              <a:t>• Conecta o sistema de telefonia do banco ao mundo externo</a:t>
            </a:r>
            <a:br>
              <a:rPr lang="pt-BR" dirty="0"/>
            </a:br>
            <a:r>
              <a:rPr lang="pt-BR" dirty="0"/>
              <a:t>• Permite ligações com clientes, agências e centrais</a:t>
            </a:r>
            <a:br>
              <a:rPr lang="pt-BR" dirty="0"/>
            </a:br>
            <a:r>
              <a:rPr lang="pt-BR" dirty="0"/>
              <a:t>• Usa a internet no lugar de linhas telefônicas tradicionais</a:t>
            </a:r>
            <a:br>
              <a:rPr lang="pt-BR" dirty="0"/>
            </a:br>
            <a:r>
              <a:rPr lang="pt-BR" dirty="0"/>
              <a:t>• Funciona de forma controlada e segura</a:t>
            </a:r>
            <a:br>
              <a:rPr lang="pt-BR" dirty="0"/>
            </a:br>
            <a:r>
              <a:rPr lang="pt-BR" dirty="0"/>
              <a:t>• Passa por um SBC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74E1376-CC49-52B2-E3C9-E5EC65156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794" y="1009988"/>
            <a:ext cx="3965713" cy="4944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940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>
                <a:solidFill>
                  <a:srgbClr val="1273C0"/>
                </a:solidFill>
              </a:rPr>
              <a:t>SIPREC — Protocolo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CBE769-823F-3B8B-F2E7-7EDCA1788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899" y="1826955"/>
            <a:ext cx="3838593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Protocolo SIP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Protocolo SDP </a:t>
            </a: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RTP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>
                <a:latin typeface="Arial" panose="020B0604020202020204" pitchFamily="34" charset="0"/>
              </a:rPr>
              <a:t>XML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Faz Copia das Chamadas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4D2464-FDC7-14B1-F35E-1F73483D9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085" y="1310225"/>
            <a:ext cx="5486400" cy="455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14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3A93E-6054-2838-2C5A-9979A289D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 sz="3200" dirty="0">
                <a:solidFill>
                  <a:srgbClr val="1273C0"/>
                </a:solidFill>
              </a:rPr>
              <a:t>SDP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8137E78-2D4C-1038-C3E9-98E1A68A1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417638"/>
            <a:ext cx="10134600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949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C0E6808-91F9-E8F2-6B01-1756E7582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839" y="585569"/>
            <a:ext cx="6915573" cy="568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069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D707CB9-E875-7C60-3ECB-12736BB75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812" y="2438400"/>
            <a:ext cx="5286375" cy="1501555"/>
          </a:xfrm>
          <a:prstGeom prst="rect">
            <a:avLst/>
          </a:prstGeom>
        </p:spPr>
      </p:pic>
      <p:sp>
        <p:nvSpPr>
          <p:cNvPr id="6" name="Título 5">
            <a:extLst>
              <a:ext uri="{FF2B5EF4-FFF2-40B4-BE49-F238E27FC236}">
                <a16:creationId xmlns:a16="http://schemas.microsoft.com/office/drawing/2014/main" id="{63505F34-5696-D09D-5709-62A008643106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Arquitetura Sistemas SIPREC</a:t>
            </a:r>
          </a:p>
        </p:txBody>
      </p:sp>
    </p:spTree>
    <p:extLst>
      <p:ext uri="{BB962C8B-B14F-4D97-AF65-F5344CB8AC3E}">
        <p14:creationId xmlns:p14="http://schemas.microsoft.com/office/powerpoint/2010/main" val="699568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6489E93-3E0D-454C-EAA6-1AB92B07D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762000"/>
            <a:ext cx="6649278" cy="5410200"/>
          </a:xfrm>
          <a:prstGeom prst="rect">
            <a:avLst/>
          </a:prstGeom>
        </p:spPr>
      </p:pic>
      <p:sp>
        <p:nvSpPr>
          <p:cNvPr id="10" name="Título 5">
            <a:extLst>
              <a:ext uri="{FF2B5EF4-FFF2-40B4-BE49-F238E27FC236}">
                <a16:creationId xmlns:a16="http://schemas.microsoft.com/office/drawing/2014/main" id="{AE04B4D3-A061-5CC4-6D17-CB22363A75DC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Arquitetura do Banco Tradicional</a:t>
            </a:r>
          </a:p>
        </p:txBody>
      </p:sp>
    </p:spTree>
    <p:extLst>
      <p:ext uri="{BB962C8B-B14F-4D97-AF65-F5344CB8AC3E}">
        <p14:creationId xmlns:p14="http://schemas.microsoft.com/office/powerpoint/2010/main" val="4162010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6900C70-140B-2703-A49F-89C53BBDD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66" y="820609"/>
            <a:ext cx="8430867" cy="5271730"/>
          </a:xfrm>
          <a:prstGeom prst="rect">
            <a:avLst/>
          </a:prstGeom>
        </p:spPr>
      </p:pic>
      <p:sp>
        <p:nvSpPr>
          <p:cNvPr id="7" name="Título 5">
            <a:extLst>
              <a:ext uri="{FF2B5EF4-FFF2-40B4-BE49-F238E27FC236}">
                <a16:creationId xmlns:a16="http://schemas.microsoft.com/office/drawing/2014/main" id="{1C387F6D-B1E9-7AFB-8456-0DCFEC055A89}"/>
              </a:ext>
            </a:extLst>
          </p:cNvPr>
          <p:cNvSpPr txBox="1">
            <a:spLocks/>
          </p:cNvSpPr>
          <p:nvPr/>
        </p:nvSpPr>
        <p:spPr>
          <a:xfrm>
            <a:off x="657207" y="92115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>
                <a:solidFill>
                  <a:srgbClr val="1273C0"/>
                </a:solidFill>
              </a:rPr>
              <a:t>Arquitetura do Banco Futura</a:t>
            </a:r>
          </a:p>
        </p:txBody>
      </p:sp>
    </p:spTree>
    <p:extLst>
      <p:ext uri="{BB962C8B-B14F-4D97-AF65-F5344CB8AC3E}">
        <p14:creationId xmlns:p14="http://schemas.microsoft.com/office/powerpoint/2010/main" val="9357088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931D09F-B4C6-65C6-30C3-DC0286808C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2846"/>
            <a:ext cx="8915400" cy="297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C8AC2BD-2F1F-9278-0CF7-03A9B9DA8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262" y="3200400"/>
            <a:ext cx="8220075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0569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1">
  <a:themeElements>
    <a:clrScheme name="Personalizada 2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0070C0"/>
      </a:accent4>
      <a:accent5>
        <a:srgbClr val="4BACC6"/>
      </a:accent5>
      <a:accent6>
        <a:srgbClr val="F79646"/>
      </a:accent6>
      <a:hlink>
        <a:srgbClr val="0000FF"/>
      </a:hlink>
      <a:folHlink>
        <a:srgbClr val="7030A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1" id="{4AFD4DA6-EC9F-403F-8BED-7562FC65EE06}" vid="{94A91D7A-83BA-4B04-AF9C-46D6C035EAFB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15073</TotalTime>
  <Words>647</Words>
  <Application>Microsoft Office PowerPoint</Application>
  <PresentationFormat>Widescreen</PresentationFormat>
  <Paragraphs>97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Unicode MS</vt:lpstr>
      <vt:lpstr>Calibri</vt:lpstr>
      <vt:lpstr>Personalizar design</vt:lpstr>
      <vt:lpstr>Tema1</vt:lpstr>
      <vt:lpstr>Arquitetura e Protocolos de Telefonia</vt:lpstr>
      <vt:lpstr>Internet, Rede Privada e Comunicação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SDP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maicon roger</dc:creator>
  <cp:keywords/>
  <dc:description>generated using python-pptx</dc:description>
  <cp:lastModifiedBy>maicon roger</cp:lastModifiedBy>
  <cp:revision>88</cp:revision>
  <cp:lastPrinted>2024-06-17T13:55:03Z</cp:lastPrinted>
  <dcterms:created xsi:type="dcterms:W3CDTF">2013-01-27T09:14:16Z</dcterms:created>
  <dcterms:modified xsi:type="dcterms:W3CDTF">2025-12-18T18:21:21Z</dcterms:modified>
  <cp:category/>
</cp:coreProperties>
</file>